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 snapToGrid="0">
      <p:cViewPr varScale="1">
        <p:scale>
          <a:sx n="47" d="100"/>
          <a:sy n="47" d="100"/>
        </p:scale>
        <p:origin x="1027" y="43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tableStyles" Target="tableStyles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theme" Target="theme/theme1.xml"/><Relationship Id="rId2" Type="http://schemas.openxmlformats.org/officeDocument/2006/relationships/slide" Target="slides/slide1.xml"/><Relationship Id="rId16" Type="http://schemas.openxmlformats.org/officeDocument/2006/relationships/viewProps" Target="viewProp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presProps" Target="presProps.xml"/><Relationship Id="rId10" Type="http://schemas.openxmlformats.org/officeDocument/2006/relationships/slide" Target="slides/slide9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148B3E5-617D-AABA-AB8C-48E8A045FAC5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  <a:endParaRPr lang="en-IN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D22DAF2E-A7F0-5CFD-8685-DA4ECEE6BEB6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  <a:endParaRPr lang="en-IN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75A19346-72CD-00CD-8F5B-FE545106E7D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9B11F35-6DAE-4F7D-826C-CA3504C03658}" type="datetimeFigureOut">
              <a:rPr lang="en-IN" smtClean="0"/>
              <a:t>11-07-26</a:t>
            </a:fld>
            <a:endParaRPr lang="en-IN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49D12BFB-811B-BA30-D001-D181368D72E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B2FF3D24-F053-923E-CB53-84086241170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D0861B3-852F-42F1-BDB8-339E4DBCD958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3847098179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0FD664D-2B4B-822C-24B1-7FD9530387A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IN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5520273D-BAFF-8158-5B7C-8CF6D2ADA4E9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IN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CC30C31C-4FF6-923F-FE45-7959EF174B5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9B11F35-6DAE-4F7D-826C-CA3504C03658}" type="datetimeFigureOut">
              <a:rPr lang="en-IN" smtClean="0"/>
              <a:t>11-07-26</a:t>
            </a:fld>
            <a:endParaRPr lang="en-IN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36B3710C-7A33-FA78-A025-EFCCC40E34C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6FD8A055-35F8-6827-A0FF-1BBC4B0368A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D0861B3-852F-42F1-BDB8-339E4DBCD958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949955065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2905927-35A3-65B0-B6A0-55B205A0DED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  <a:endParaRPr lang="en-IN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518BBA48-CB04-D117-D736-ACA0955B62C6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7E754758-A49C-5346-4975-70C379EC607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9B11F35-6DAE-4F7D-826C-CA3504C03658}" type="datetimeFigureOut">
              <a:rPr lang="en-IN" smtClean="0"/>
              <a:t>11-07-26</a:t>
            </a:fld>
            <a:endParaRPr lang="en-IN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67ABE281-3C0B-C5B7-2908-E818BC8A48C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823A43F5-BB2C-04FE-430E-7A9E3494418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D0861B3-852F-42F1-BDB8-339E4DBCD958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987696017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53B4BCF-516F-0465-16E2-62AD62666AA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IN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495FCACC-188E-2489-A89A-A2E43070A6C3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IN"/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4CC9D0F5-49C5-F807-326B-72090AFFFB59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IN"/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8611ACCE-340C-FAD5-5932-674D8313488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9B11F35-6DAE-4F7D-826C-CA3504C03658}" type="datetimeFigureOut">
              <a:rPr lang="en-IN" smtClean="0"/>
              <a:t>11-07-26</a:t>
            </a:fld>
            <a:endParaRPr lang="en-IN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46A230FF-7A54-FD2F-75AE-ECABEB7EB54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2BEF162B-9D8A-EDCA-DA2A-7E694BA45B5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D0861B3-852F-42F1-BDB8-339E4DBCD958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1864136528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A097D8B-7B4B-06B4-C82F-C272B2A8892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IN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23CBF7DC-C248-C890-E8A5-23D43FB6EF7C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A2329CF2-7B2D-8560-1B7F-A186E5AAE5B8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IN"/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EAE6AA16-4EEA-85EF-DDD1-C02F9C0015CD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1626DBD5-5998-E2B5-A8DF-A985262D146B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IN"/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6BB7C447-4F50-8FAC-1DBC-224B763AF1F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9B11F35-6DAE-4F7D-826C-CA3504C03658}" type="datetimeFigureOut">
              <a:rPr lang="en-IN" smtClean="0"/>
              <a:t>11-07-26</a:t>
            </a:fld>
            <a:endParaRPr lang="en-IN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62F13FDC-2EDA-F2B8-D372-AC348EC9486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846A2028-2C98-073D-0FC3-D9DD5352BD0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D0861B3-852F-42F1-BDB8-339E4DBCD958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3924639640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F8EC6B0-6DA9-F8D8-CC5E-6F748B2C984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IN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AFB6AE1C-6505-592D-3C1E-C901A2C2CD8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9B11F35-6DAE-4F7D-826C-CA3504C03658}" type="datetimeFigureOut">
              <a:rPr lang="en-IN" smtClean="0"/>
              <a:t>11-07-26</a:t>
            </a:fld>
            <a:endParaRPr lang="en-IN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06543A60-C225-8C14-0401-5697FF6FBE0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72B76D73-2854-3842-FD9A-EF077CC82AC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D0861B3-852F-42F1-BDB8-339E4DBCD958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1904007618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F7B992AE-7BC7-73D9-4E6F-31B72973E67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9B11F35-6DAE-4F7D-826C-CA3504C03658}" type="datetimeFigureOut">
              <a:rPr lang="en-IN" smtClean="0"/>
              <a:t>11-07-26</a:t>
            </a:fld>
            <a:endParaRPr lang="en-IN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66E2D3C6-E4C2-9007-4DCA-C97A5346ED0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751D4448-2CCB-8102-6434-3AA3132A4E2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D0861B3-852F-42F1-BDB8-339E4DBCD958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129153741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25559A7-97B9-C940-C1AE-EB9580E138C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IN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FCEB8DFB-6586-CA72-2988-CB02A72FAD2E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IN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691B03F8-8CA3-4FAD-11E4-04746BC53024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3AEFAF93-E3CD-3CD5-DEA8-07800BF99FA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9B11F35-6DAE-4F7D-826C-CA3504C03658}" type="datetimeFigureOut">
              <a:rPr lang="en-IN" smtClean="0"/>
              <a:t>11-07-26</a:t>
            </a:fld>
            <a:endParaRPr lang="en-IN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286DCD26-4CA4-6AB4-C29B-8075D7C9EA7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F6C8E0A4-1DC8-AA33-85AB-5E1429E9927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D0861B3-852F-42F1-BDB8-339E4DBCD958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3212760731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CC697FB-3493-7C29-B632-B4B95FD2708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IN"/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2381097A-A1DE-CE9C-67C6-BBF3DF720E28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IN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F08EDC9A-6019-A15B-F7B3-34CDA733F431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50433624-1D9C-002E-082A-9F79E07DE69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9B11F35-6DAE-4F7D-826C-CA3504C03658}" type="datetimeFigureOut">
              <a:rPr lang="en-IN" smtClean="0"/>
              <a:t>11-07-26</a:t>
            </a:fld>
            <a:endParaRPr lang="en-IN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355F7F16-1DCA-0037-2625-27BA68EBE95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EBB16F50-BF16-9539-D7D7-0DFB287AC9A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D0861B3-852F-42F1-BDB8-339E4DBCD958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2270873411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FE5EFDC-705C-FC9B-D946-441E937104C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IN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B38E4B87-B5E9-5BC4-2BD2-03914B7A2342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IN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C4DB7569-C8AB-CB36-AA6D-3DAF17DB20C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9B11F35-6DAE-4F7D-826C-CA3504C03658}" type="datetimeFigureOut">
              <a:rPr lang="en-IN" smtClean="0"/>
              <a:t>11-07-26</a:t>
            </a:fld>
            <a:endParaRPr lang="en-IN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9F1A7085-4748-192D-6423-D7D03C2D050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0E161551-2CE5-53B1-885B-830AE92359D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D0861B3-852F-42F1-BDB8-339E4DBCD958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4257475553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ABDD181F-6145-E9E2-E8AD-3AEF95F700F3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  <a:endParaRPr lang="en-IN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5873BF7A-7A41-4C57-0611-878C5AD3ECDF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IN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D30E5BC4-61C5-6211-CB5F-2249C1FBEE4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9B11F35-6DAE-4F7D-826C-CA3504C03658}" type="datetimeFigureOut">
              <a:rPr lang="en-IN" smtClean="0"/>
              <a:t>11-07-26</a:t>
            </a:fld>
            <a:endParaRPr lang="en-IN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413D6824-4CD2-D60C-0356-DD0FAE3CBCE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D5E11B53-9667-AC27-1E06-BD46AA92C08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D0861B3-852F-42F1-BDB8-339E4DBCD958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986619376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283F1CC0-92B4-8EEC-F49B-2362179BD9A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  <a:endParaRPr lang="en-IN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183208FB-A349-5F3B-B090-B634DB778671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IN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8553E0BF-00A4-666F-7B69-0BD126CD5033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69B11F35-6DAE-4F7D-826C-CA3504C03658}" type="datetimeFigureOut">
              <a:rPr lang="en-IN" smtClean="0"/>
              <a:t>11-07-26</a:t>
            </a:fld>
            <a:endParaRPr lang="en-IN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A82E0A72-43FE-E108-5FE8-1A00FC03D976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en-IN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C9858D02-1CAF-9AF7-E266-E9C208BABFAC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DD0861B3-852F-42F1-BDB8-339E4DBCD958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1742846711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7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7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7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7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Layout" Target="../slideLayouts/slideLayout7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image" Target="../media/image7.png"/><Relationship Id="rId1" Type="http://schemas.openxmlformats.org/officeDocument/2006/relationships/slideLayout" Target="../slideLayouts/slideLayout7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image" Target="../media/image8.png"/><Relationship Id="rId1" Type="http://schemas.openxmlformats.org/officeDocument/2006/relationships/slideLayout" Target="../slideLayouts/slideLayout7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image" Target="../media/image9.png"/><Relationship Id="rId1" Type="http://schemas.openxmlformats.org/officeDocument/2006/relationships/slideLayout" Target="../slideLayouts/slideLayout7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0.png"/><Relationship Id="rId1" Type="http://schemas.openxmlformats.org/officeDocument/2006/relationships/slideLayout" Target="../slideLayouts/slideLayout7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1.png"/><Relationship Id="rId1" Type="http://schemas.openxmlformats.org/officeDocument/2006/relationships/slideLayout" Target="../slideLayouts/slideLayout7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C87CDC78-1B56-E064-AE5C-A3AE19BAC665}"/>
              </a:ext>
            </a:extLst>
          </p:cNvPr>
          <p:cNvSpPr txBox="1"/>
          <p:nvPr/>
        </p:nvSpPr>
        <p:spPr>
          <a:xfrm>
            <a:off x="1016000" y="2032000"/>
            <a:ext cx="10160000" cy="769441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r>
              <a:rPr lang="en-IN" sz="4400" b="1">
                <a:solidFill>
                  <a:srgbClr val="FFFFFF"/>
                </a:solidFill>
                <a:latin typeface="Segoe UI" panose="020B0502040204020203" pitchFamily="34" charset="0"/>
              </a:rPr>
              <a:t>AI &amp; MACHINE LEARNING</a:t>
            </a:r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0A488604-83A9-C2FB-1266-62BF8F83C4E5}"/>
              </a:ext>
            </a:extLst>
          </p:cNvPr>
          <p:cNvSpPr/>
          <p:nvPr/>
        </p:nvSpPr>
        <p:spPr>
          <a:xfrm>
            <a:off x="1016000" y="3302000"/>
            <a:ext cx="2540000" cy="50800"/>
          </a:xfrm>
          <a:prstGeom prst="rect">
            <a:avLst/>
          </a:prstGeom>
          <a:solidFill>
            <a:srgbClr val="06B6D4"/>
          </a:solidFill>
          <a:ln w="1905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IN"/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EA4990CE-55AA-1193-EE6B-9EE904E482D3}"/>
              </a:ext>
            </a:extLst>
          </p:cNvPr>
          <p:cNvSpPr txBox="1"/>
          <p:nvPr/>
        </p:nvSpPr>
        <p:spPr>
          <a:xfrm>
            <a:off x="1016000" y="3556000"/>
            <a:ext cx="10160000" cy="646331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r>
              <a:rPr lang="en-US">
                <a:solidFill>
                  <a:srgbClr val="94A3B8"/>
                </a:solidFill>
                <a:latin typeface="Segoe UI" panose="020B0502040204020203" pitchFamily="34" charset="0"/>
              </a:rPr>
              <a:t>Summer Internship Project Portfolio
Recreated 11 Streamlit Web Applications</a:t>
            </a:r>
            <a:endParaRPr lang="en-IN">
              <a:solidFill>
                <a:srgbClr val="94A3B8"/>
              </a:solidFill>
              <a:latin typeface="Segoe UI" panose="020B0502040204020203" pitchFamily="34" charset="0"/>
            </a:endParaRP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E645A208-FDF5-EA71-81AF-A15BA750DEF8}"/>
              </a:ext>
            </a:extLst>
          </p:cNvPr>
          <p:cNvSpPr txBox="1"/>
          <p:nvPr/>
        </p:nvSpPr>
        <p:spPr>
          <a:xfrm>
            <a:off x="1016000" y="5080000"/>
            <a:ext cx="10160000" cy="292388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r>
              <a:rPr lang="en-US" sz="1300" b="1">
                <a:solidFill>
                  <a:srgbClr val="FB923C"/>
                </a:solidFill>
                <a:latin typeface="Segoe UI" panose="020B0502040204020203" pitchFamily="34" charset="0"/>
              </a:rPr>
              <a:t>Presented by Danish Khan â€¢ Developed in Streamlit &amp; Python</a:t>
            </a:r>
            <a:endParaRPr lang="en-IN" sz="1300" b="1">
              <a:solidFill>
                <a:srgbClr val="FB923C"/>
              </a:solidFill>
              <a:latin typeface="Segoe UI" panose="020B0502040204020203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498885844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9BEC7367-1F52-72D2-7523-2068E9F7DE19}"/>
              </a:ext>
            </a:extLst>
          </p:cNvPr>
          <p:cNvSpPr txBox="1"/>
          <p:nvPr/>
        </p:nvSpPr>
        <p:spPr>
          <a:xfrm>
            <a:off x="508000" y="508000"/>
            <a:ext cx="3810000" cy="400110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r>
              <a:rPr lang="en-US" sz="1000" b="1">
                <a:solidFill>
                  <a:srgbClr val="94A3B8"/>
                </a:solidFill>
                <a:latin typeface="Segoe UI" panose="020B0502040204020203" pitchFamily="34" charset="0"/>
              </a:rPr>
              <a:t>PROJECT 01 OF 11  â€¢  DATA ANALYSIS &amp; INTERACTIVE VISUALIZATION</a:t>
            </a:r>
            <a:endParaRPr lang="en-IN" sz="1000" b="1">
              <a:solidFill>
                <a:srgbClr val="94A3B8"/>
              </a:solidFill>
              <a:latin typeface="Segoe UI" panose="020B0502040204020203" pitchFamily="34" charset="0"/>
            </a:endParaRP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92BF92FD-53ED-E9F3-930F-AF58DAAF2D36}"/>
              </a:ext>
            </a:extLst>
          </p:cNvPr>
          <p:cNvSpPr txBox="1"/>
          <p:nvPr/>
        </p:nvSpPr>
        <p:spPr>
          <a:xfrm>
            <a:off x="508000" y="762000"/>
            <a:ext cx="3810000" cy="769441"/>
          </a:xfrm>
          <a:prstGeom prst="rect">
            <a:avLst/>
          </a:prstGeom>
          <a:noFill/>
        </p:spPr>
        <p:txBody>
          <a:bodyPr vert="horz" wrap="square" rtlCol="0">
            <a:spAutoFit/>
          </a:bodyPr>
          <a:lstStyle/>
          <a:p>
            <a:r>
              <a:rPr lang="en-US" sz="2200" b="1">
                <a:solidFill>
                  <a:srgbClr val="FFFFFF"/>
                </a:solidFill>
                <a:latin typeface="Segoe UI" panose="020B0502040204020203" pitchFamily="34" charset="0"/>
              </a:rPr>
              <a:t>Google Play Store Data Visualization</a:t>
            </a:r>
            <a:endParaRPr lang="en-IN" sz="2200" b="1">
              <a:solidFill>
                <a:srgbClr val="FFFFFF"/>
              </a:solidFill>
              <a:latin typeface="Segoe UI" panose="020B0502040204020203" pitchFamily="34" charset="0"/>
            </a:endParaRP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1BBB9493-E679-1A03-4E87-081A5EDB8AE0}"/>
              </a:ext>
            </a:extLst>
          </p:cNvPr>
          <p:cNvSpPr txBox="1"/>
          <p:nvPr/>
        </p:nvSpPr>
        <p:spPr>
          <a:xfrm>
            <a:off x="508000" y="1714500"/>
            <a:ext cx="3810000" cy="461665"/>
          </a:xfrm>
          <a:prstGeom prst="rect">
            <a:avLst/>
          </a:prstGeom>
          <a:noFill/>
        </p:spPr>
        <p:txBody>
          <a:bodyPr vert="horz" wrap="square" rtlCol="0">
            <a:spAutoFit/>
          </a:bodyPr>
          <a:lstStyle/>
          <a:p>
            <a:r>
              <a:rPr lang="en-US" sz="1200">
                <a:solidFill>
                  <a:srgbClr val="94A3B8"/>
                </a:solidFill>
                <a:latin typeface="Segoe UI" panose="020B0502040204020203" pitchFamily="34" charset="0"/>
              </a:rPr>
              <a:t>Interactive dashboard to explore Android app market trends, user ratings, and installations</a:t>
            </a:r>
            <a:endParaRPr lang="en-IN" sz="1200">
              <a:solidFill>
                <a:srgbClr val="94A3B8"/>
              </a:solidFill>
              <a:latin typeface="Segoe UI" panose="020B0502040204020203" pitchFamily="34" charset="0"/>
            </a:endParaRPr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98442E2F-72B3-C4E5-E13B-2086B3163404}"/>
              </a:ext>
            </a:extLst>
          </p:cNvPr>
          <p:cNvSpPr/>
          <p:nvPr/>
        </p:nvSpPr>
        <p:spPr>
          <a:xfrm>
            <a:off x="508000" y="2476500"/>
            <a:ext cx="762000" cy="38100"/>
          </a:xfrm>
          <a:prstGeom prst="rect">
            <a:avLst/>
          </a:prstGeom>
          <a:solidFill>
            <a:srgbClr val="06B6D4"/>
          </a:solidFill>
          <a:ln w="1905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IN"/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8DEC1F05-44DC-A3E7-66DA-1E9AF2AF853D}"/>
              </a:ext>
            </a:extLst>
          </p:cNvPr>
          <p:cNvSpPr txBox="1"/>
          <p:nvPr/>
        </p:nvSpPr>
        <p:spPr>
          <a:xfrm>
            <a:off x="508000" y="2603500"/>
            <a:ext cx="3810000" cy="261610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r>
              <a:rPr lang="en-IN" sz="1100" b="1">
                <a:solidFill>
                  <a:srgbClr val="FB923C"/>
                </a:solidFill>
                <a:latin typeface="Segoe UI" panose="020B0502040204020203" pitchFamily="34" charset="0"/>
              </a:rPr>
              <a:t>KEY FEATURES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35FB39EF-FF9C-F4E7-EB06-968B94A1686F}"/>
              </a:ext>
            </a:extLst>
          </p:cNvPr>
          <p:cNvSpPr txBox="1"/>
          <p:nvPr/>
        </p:nvSpPr>
        <p:spPr>
          <a:xfrm>
            <a:off x="508000" y="2921000"/>
            <a:ext cx="3810000" cy="1277273"/>
          </a:xfrm>
          <a:prstGeom prst="rect">
            <a:avLst/>
          </a:prstGeom>
          <a:noFill/>
        </p:spPr>
        <p:txBody>
          <a:bodyPr vert="horz" wrap="square" rtlCol="0">
            <a:spAutoFit/>
          </a:bodyPr>
          <a:lstStyle/>
          <a:p>
            <a:r>
              <a:rPr lang="en-IN" sz="1100">
                <a:solidFill>
                  <a:srgbClr val="FFFFFF"/>
                </a:solidFill>
                <a:latin typeface="Segoe UI" panose="020B0502040204020203" pitchFamily="34" charset="0"/>
              </a:rPr>
              <a:t>â€¢ Analyzes app sizes, ratings, pricing, and category distribution.
â€¢ Interactive sidebar filters for categories, app type, and ratings.
â€¢ Polished visualizations using dynamic Plotly charts.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3494AB8D-857B-6D17-53C7-D6A2648D96B7}"/>
              </a:ext>
            </a:extLst>
          </p:cNvPr>
          <p:cNvSpPr txBox="1"/>
          <p:nvPr/>
        </p:nvSpPr>
        <p:spPr>
          <a:xfrm>
            <a:off x="508000" y="5461000"/>
            <a:ext cx="3810000" cy="430887"/>
          </a:xfrm>
          <a:prstGeom prst="rect">
            <a:avLst/>
          </a:prstGeom>
          <a:noFill/>
        </p:spPr>
        <p:txBody>
          <a:bodyPr vert="horz" wrap="square" rtlCol="0">
            <a:spAutoFit/>
          </a:bodyPr>
          <a:lstStyle/>
          <a:p>
            <a:r>
              <a:rPr lang="en-US" sz="1100" b="1">
                <a:solidFill>
                  <a:srgbClr val="06B6D4"/>
                </a:solidFill>
                <a:latin typeface="Segoe UI" panose="020B0502040204020203" pitchFamily="34" charset="0"/>
              </a:rPr>
              <a:t>TECH STACK:
Streamlit, Plotly, Pandas, NumPy</a:t>
            </a:r>
            <a:endParaRPr lang="en-IN" sz="1100" b="1">
              <a:solidFill>
                <a:srgbClr val="06B6D4"/>
              </a:solidFill>
              <a:latin typeface="Segoe UI" panose="020B0502040204020203" pitchFamily="34" charset="0"/>
            </a:endParaRPr>
          </a:p>
        </p:txBody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C81C99EB-0F0C-0E04-5010-DC82971EB9B4}"/>
              </a:ext>
            </a:extLst>
          </p:cNvPr>
          <p:cNvSpPr/>
          <p:nvPr/>
        </p:nvSpPr>
        <p:spPr>
          <a:xfrm>
            <a:off x="4445000" y="1143000"/>
            <a:ext cx="7366000" cy="4318000"/>
          </a:xfrm>
          <a:prstGeom prst="rect">
            <a:avLst/>
          </a:prstGeom>
          <a:solidFill>
            <a:srgbClr val="1E293B"/>
          </a:solidFill>
          <a:ln w="1905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IN"/>
          </a:p>
        </p:txBody>
      </p:sp>
      <p:pic>
        <p:nvPicPr>
          <p:cNvPr id="11" name="Picture 10">
            <a:extLst>
              <a:ext uri="{FF2B5EF4-FFF2-40B4-BE49-F238E27FC236}">
                <a16:creationId xmlns:a16="http://schemas.microsoft.com/office/drawing/2014/main" id="{9F7F524F-6E17-9A26-860C-27413DB3D435}"/>
              </a:ext>
            </a:extLst>
          </p:cNvPr>
          <p:cNvPicPr>
            <a:picLocks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635500" y="1333500"/>
            <a:ext cx="6985000" cy="3924300"/>
          </a:xfrm>
          <a:prstGeom prst="rect">
            <a:avLst/>
          </a:prstGeom>
          <a:ln w="12700">
            <a:solidFill>
              <a:srgbClr val="94A3B8"/>
            </a:solidFill>
          </a:ln>
        </p:spPr>
      </p:pic>
    </p:spTree>
    <p:extLst>
      <p:ext uri="{BB962C8B-B14F-4D97-AF65-F5344CB8AC3E}">
        <p14:creationId xmlns:p14="http://schemas.microsoft.com/office/powerpoint/2010/main" val="3189968948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43314A83-CAFC-1D4D-B335-7D58F6F84CBE}"/>
              </a:ext>
            </a:extLst>
          </p:cNvPr>
          <p:cNvSpPr txBox="1"/>
          <p:nvPr/>
        </p:nvSpPr>
        <p:spPr>
          <a:xfrm>
            <a:off x="508000" y="508000"/>
            <a:ext cx="3810000" cy="400110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r>
              <a:rPr lang="en-US" sz="1000" b="1">
                <a:solidFill>
                  <a:srgbClr val="94A3B8"/>
                </a:solidFill>
                <a:latin typeface="Segoe UI" panose="020B0502040204020203" pitchFamily="34" charset="0"/>
              </a:rPr>
              <a:t>PROJECT 02 OF 11  â€¢  DATA CLEANING &amp; STATISTICAL OUTLIER DETECTION</a:t>
            </a:r>
            <a:endParaRPr lang="en-IN" sz="1000" b="1">
              <a:solidFill>
                <a:srgbClr val="94A3B8"/>
              </a:solidFill>
              <a:latin typeface="Segoe UI" panose="020B0502040204020203" pitchFamily="34" charset="0"/>
            </a:endParaRP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318CBEDD-B454-CC52-0098-90309BC68E42}"/>
              </a:ext>
            </a:extLst>
          </p:cNvPr>
          <p:cNvSpPr txBox="1"/>
          <p:nvPr/>
        </p:nvSpPr>
        <p:spPr>
          <a:xfrm>
            <a:off x="508000" y="762000"/>
            <a:ext cx="3810000" cy="769441"/>
          </a:xfrm>
          <a:prstGeom prst="rect">
            <a:avLst/>
          </a:prstGeom>
          <a:noFill/>
        </p:spPr>
        <p:txBody>
          <a:bodyPr vert="horz" wrap="square" rtlCol="0">
            <a:spAutoFit/>
          </a:bodyPr>
          <a:lstStyle/>
          <a:p>
            <a:r>
              <a:rPr lang="en-US" sz="2200" b="1">
                <a:solidFill>
                  <a:srgbClr val="FFFFFF"/>
                </a:solidFill>
                <a:latin typeface="Segoe UI" panose="020B0502040204020203" pitchFamily="34" charset="0"/>
              </a:rPr>
              <a:t>Airbnb NYC Outliers Percentile Clipping</a:t>
            </a:r>
            <a:endParaRPr lang="en-IN" sz="2200" b="1">
              <a:solidFill>
                <a:srgbClr val="FFFFFF"/>
              </a:solidFill>
              <a:latin typeface="Segoe UI" panose="020B0502040204020203" pitchFamily="34" charset="0"/>
            </a:endParaRP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07A59BBB-AFEC-03CA-B5FB-60F8611E35D8}"/>
              </a:ext>
            </a:extLst>
          </p:cNvPr>
          <p:cNvSpPr txBox="1"/>
          <p:nvPr/>
        </p:nvSpPr>
        <p:spPr>
          <a:xfrm>
            <a:off x="508000" y="1714500"/>
            <a:ext cx="3810000" cy="461665"/>
          </a:xfrm>
          <a:prstGeom prst="rect">
            <a:avLst/>
          </a:prstGeom>
          <a:noFill/>
        </p:spPr>
        <p:txBody>
          <a:bodyPr vert="horz" wrap="square" rtlCol="0">
            <a:spAutoFit/>
          </a:bodyPr>
          <a:lstStyle/>
          <a:p>
            <a:r>
              <a:rPr lang="en-US" sz="1200">
                <a:solidFill>
                  <a:srgbClr val="94A3B8"/>
                </a:solidFill>
                <a:latin typeface="Segoe UI" panose="020B0502040204020203" pitchFamily="34" charset="0"/>
              </a:rPr>
              <a:t>Statistical data cleaning dashboard that detects and filters outliers in NYC housing listing prices</a:t>
            </a:r>
            <a:endParaRPr lang="en-IN" sz="1200">
              <a:solidFill>
                <a:srgbClr val="94A3B8"/>
              </a:solidFill>
              <a:latin typeface="Segoe UI" panose="020B0502040204020203" pitchFamily="34" charset="0"/>
            </a:endParaRPr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03B49209-904C-DD33-89A5-090529D779EC}"/>
              </a:ext>
            </a:extLst>
          </p:cNvPr>
          <p:cNvSpPr/>
          <p:nvPr/>
        </p:nvSpPr>
        <p:spPr>
          <a:xfrm>
            <a:off x="508000" y="2476500"/>
            <a:ext cx="762000" cy="38100"/>
          </a:xfrm>
          <a:prstGeom prst="rect">
            <a:avLst/>
          </a:prstGeom>
          <a:solidFill>
            <a:srgbClr val="06B6D4"/>
          </a:solidFill>
          <a:ln w="1905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IN"/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79BFE2B3-BF4E-5C00-4360-4BF7DB32DA8A}"/>
              </a:ext>
            </a:extLst>
          </p:cNvPr>
          <p:cNvSpPr txBox="1"/>
          <p:nvPr/>
        </p:nvSpPr>
        <p:spPr>
          <a:xfrm>
            <a:off x="508000" y="2603500"/>
            <a:ext cx="3810000" cy="261610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r>
              <a:rPr lang="en-IN" sz="1100" b="1">
                <a:solidFill>
                  <a:srgbClr val="FB923C"/>
                </a:solidFill>
                <a:latin typeface="Segoe UI" panose="020B0502040204020203" pitchFamily="34" charset="0"/>
              </a:rPr>
              <a:t>KEY FEATURES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3DAAE738-10FC-4CB4-F81D-5367E69981AC}"/>
              </a:ext>
            </a:extLst>
          </p:cNvPr>
          <p:cNvSpPr txBox="1"/>
          <p:nvPr/>
        </p:nvSpPr>
        <p:spPr>
          <a:xfrm>
            <a:off x="508000" y="2921000"/>
            <a:ext cx="3810000" cy="1107996"/>
          </a:xfrm>
          <a:prstGeom prst="rect">
            <a:avLst/>
          </a:prstGeom>
          <a:noFill/>
        </p:spPr>
        <p:txBody>
          <a:bodyPr vert="horz" wrap="square" rtlCol="0">
            <a:spAutoFit/>
          </a:bodyPr>
          <a:lstStyle/>
          <a:p>
            <a:r>
              <a:rPr lang="en-IN" sz="1100">
                <a:solidFill>
                  <a:srgbClr val="FFFFFF"/>
                </a:solidFill>
                <a:latin typeface="Segoe UI" panose="020B0502040204020203" pitchFamily="34" charset="0"/>
              </a:rPr>
              <a:t>â€¢ Interactive percentile sliders (e.g., P1 to P99 clipping).
â€¢ Compares data distributions before and after outlier removal.
â€¢ Geographical map visualizations of listing locations.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50064044-53CA-01CA-D653-26373EF03EBA}"/>
              </a:ext>
            </a:extLst>
          </p:cNvPr>
          <p:cNvSpPr txBox="1"/>
          <p:nvPr/>
        </p:nvSpPr>
        <p:spPr>
          <a:xfrm>
            <a:off x="508000" y="5461000"/>
            <a:ext cx="3810000" cy="430887"/>
          </a:xfrm>
          <a:prstGeom prst="rect">
            <a:avLst/>
          </a:prstGeom>
          <a:noFill/>
        </p:spPr>
        <p:txBody>
          <a:bodyPr vert="horz" wrap="square" rtlCol="0">
            <a:spAutoFit/>
          </a:bodyPr>
          <a:lstStyle/>
          <a:p>
            <a:r>
              <a:rPr lang="en-US" sz="1100" b="1">
                <a:solidFill>
                  <a:srgbClr val="06B6D4"/>
                </a:solidFill>
                <a:latin typeface="Segoe UI" panose="020B0502040204020203" pitchFamily="34" charset="0"/>
              </a:rPr>
              <a:t>TECH STACK:
Streamlit, Plotly, Pandas, NumPy</a:t>
            </a:r>
            <a:endParaRPr lang="en-IN" sz="1100" b="1">
              <a:solidFill>
                <a:srgbClr val="06B6D4"/>
              </a:solidFill>
              <a:latin typeface="Segoe UI" panose="020B0502040204020203" pitchFamily="34" charset="0"/>
            </a:endParaRPr>
          </a:p>
        </p:txBody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C8A6B82E-E3C7-626E-A10A-0190A7CA1E62}"/>
              </a:ext>
            </a:extLst>
          </p:cNvPr>
          <p:cNvSpPr/>
          <p:nvPr/>
        </p:nvSpPr>
        <p:spPr>
          <a:xfrm>
            <a:off x="4445000" y="1143000"/>
            <a:ext cx="7366000" cy="4318000"/>
          </a:xfrm>
          <a:prstGeom prst="rect">
            <a:avLst/>
          </a:prstGeom>
          <a:solidFill>
            <a:srgbClr val="1E293B"/>
          </a:solidFill>
          <a:ln w="1905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IN"/>
          </a:p>
        </p:txBody>
      </p:sp>
      <p:pic>
        <p:nvPicPr>
          <p:cNvPr id="11" name="Picture 10">
            <a:extLst>
              <a:ext uri="{FF2B5EF4-FFF2-40B4-BE49-F238E27FC236}">
                <a16:creationId xmlns:a16="http://schemas.microsoft.com/office/drawing/2014/main" id="{F626F450-1382-DD46-4912-A4FBD34F5B76}"/>
              </a:ext>
            </a:extLst>
          </p:cNvPr>
          <p:cNvPicPr>
            <a:picLocks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635500" y="1333500"/>
            <a:ext cx="6985000" cy="3924300"/>
          </a:xfrm>
          <a:prstGeom prst="rect">
            <a:avLst/>
          </a:prstGeom>
          <a:ln w="12700">
            <a:solidFill>
              <a:srgbClr val="94A3B8"/>
            </a:solidFill>
          </a:ln>
        </p:spPr>
      </p:pic>
    </p:spTree>
    <p:extLst>
      <p:ext uri="{BB962C8B-B14F-4D97-AF65-F5344CB8AC3E}">
        <p14:creationId xmlns:p14="http://schemas.microsoft.com/office/powerpoint/2010/main" val="3234508941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1915328D-D5D8-327E-AEB1-C46B6F029396}"/>
              </a:ext>
            </a:extLst>
          </p:cNvPr>
          <p:cNvSpPr txBox="1"/>
          <p:nvPr/>
        </p:nvSpPr>
        <p:spPr>
          <a:xfrm>
            <a:off x="508000" y="508000"/>
            <a:ext cx="3810000" cy="400110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r>
              <a:rPr lang="en-US" sz="1000" b="1">
                <a:solidFill>
                  <a:srgbClr val="94A3B8"/>
                </a:solidFill>
                <a:latin typeface="Segoe UI" panose="020B0502040204020203" pitchFamily="34" charset="0"/>
              </a:rPr>
              <a:t>PROJECT 03 OF 11  â€¢  COMPUTER VISION &amp; CLASSICAL ML CLASSIFICATION</a:t>
            </a:r>
            <a:endParaRPr lang="en-IN" sz="1000" b="1">
              <a:solidFill>
                <a:srgbClr val="94A3B8"/>
              </a:solidFill>
              <a:latin typeface="Segoe UI" panose="020B0502040204020203" pitchFamily="34" charset="0"/>
            </a:endParaRP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A147F472-1971-0F60-751A-553AFC5159EA}"/>
              </a:ext>
            </a:extLst>
          </p:cNvPr>
          <p:cNvSpPr txBox="1"/>
          <p:nvPr/>
        </p:nvSpPr>
        <p:spPr>
          <a:xfrm>
            <a:off x="508000" y="762000"/>
            <a:ext cx="3810000" cy="430887"/>
          </a:xfrm>
          <a:prstGeom prst="rect">
            <a:avLst/>
          </a:prstGeom>
          <a:noFill/>
        </p:spPr>
        <p:txBody>
          <a:bodyPr vert="horz" wrap="square" rtlCol="0">
            <a:spAutoFit/>
          </a:bodyPr>
          <a:lstStyle/>
          <a:p>
            <a:r>
              <a:rPr lang="fr-FR" sz="2200" b="1">
                <a:solidFill>
                  <a:srgbClr val="FFFFFF"/>
                </a:solidFill>
                <a:latin typeface="Segoe UI" panose="020B0502040204020203" pitchFamily="34" charset="0"/>
              </a:rPr>
              <a:t>Cat vs Dog Image Classifier</a:t>
            </a:r>
            <a:endParaRPr lang="en-IN" sz="2200" b="1">
              <a:solidFill>
                <a:srgbClr val="FFFFFF"/>
              </a:solidFill>
              <a:latin typeface="Segoe UI" panose="020B0502040204020203" pitchFamily="34" charset="0"/>
            </a:endParaRP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5F1AF7A6-8430-1274-557B-D5A6BE33438E}"/>
              </a:ext>
            </a:extLst>
          </p:cNvPr>
          <p:cNvSpPr txBox="1"/>
          <p:nvPr/>
        </p:nvSpPr>
        <p:spPr>
          <a:xfrm>
            <a:off x="508000" y="1714500"/>
            <a:ext cx="3810000" cy="461665"/>
          </a:xfrm>
          <a:prstGeom prst="rect">
            <a:avLst/>
          </a:prstGeom>
          <a:noFill/>
        </p:spPr>
        <p:txBody>
          <a:bodyPr vert="horz" wrap="square" rtlCol="0">
            <a:spAutoFit/>
          </a:bodyPr>
          <a:lstStyle/>
          <a:p>
            <a:r>
              <a:rPr lang="en-US" sz="1200">
                <a:solidFill>
                  <a:srgbClr val="94A3B8"/>
                </a:solidFill>
                <a:latin typeface="Segoe UI" panose="020B0502040204020203" pitchFamily="34" charset="0"/>
              </a:rPr>
              <a:t>Computer Vision app classifying uploaded images of cats and dogs using machine learning</a:t>
            </a:r>
            <a:endParaRPr lang="en-IN" sz="1200">
              <a:solidFill>
                <a:srgbClr val="94A3B8"/>
              </a:solidFill>
              <a:latin typeface="Segoe UI" panose="020B0502040204020203" pitchFamily="34" charset="0"/>
            </a:endParaRPr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028BD9A6-C4F0-8904-429F-C5164082113F}"/>
              </a:ext>
            </a:extLst>
          </p:cNvPr>
          <p:cNvSpPr/>
          <p:nvPr/>
        </p:nvSpPr>
        <p:spPr>
          <a:xfrm>
            <a:off x="508000" y="2476500"/>
            <a:ext cx="762000" cy="38100"/>
          </a:xfrm>
          <a:prstGeom prst="rect">
            <a:avLst/>
          </a:prstGeom>
          <a:solidFill>
            <a:srgbClr val="06B6D4"/>
          </a:solidFill>
          <a:ln w="1905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IN"/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1BBA3E3E-4C12-22A7-F10A-FC91EAE65044}"/>
              </a:ext>
            </a:extLst>
          </p:cNvPr>
          <p:cNvSpPr txBox="1"/>
          <p:nvPr/>
        </p:nvSpPr>
        <p:spPr>
          <a:xfrm>
            <a:off x="508000" y="2603500"/>
            <a:ext cx="3810000" cy="261610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r>
              <a:rPr lang="en-IN" sz="1100" b="1">
                <a:solidFill>
                  <a:srgbClr val="FB923C"/>
                </a:solidFill>
                <a:latin typeface="Segoe UI" panose="020B0502040204020203" pitchFamily="34" charset="0"/>
              </a:rPr>
              <a:t>KEY FEATURES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8644DD71-3AB3-6FE5-AD24-23564FB9A59C}"/>
              </a:ext>
            </a:extLst>
          </p:cNvPr>
          <p:cNvSpPr txBox="1"/>
          <p:nvPr/>
        </p:nvSpPr>
        <p:spPr>
          <a:xfrm>
            <a:off x="508000" y="2921000"/>
            <a:ext cx="3810000" cy="1277273"/>
          </a:xfrm>
          <a:prstGeom prst="rect">
            <a:avLst/>
          </a:prstGeom>
          <a:noFill/>
        </p:spPr>
        <p:txBody>
          <a:bodyPr vert="horz" wrap="square" rtlCol="0">
            <a:spAutoFit/>
          </a:bodyPr>
          <a:lstStyle/>
          <a:p>
            <a:r>
              <a:rPr lang="en-US" sz="1100">
                <a:solidFill>
                  <a:srgbClr val="FFFFFF"/>
                </a:solidFill>
                <a:latin typeface="Segoe UI" panose="020B0502040204020203" pitchFamily="34" charset="0"/>
              </a:rPr>
              <a:t>â€¢ Drag-and-drop file uploader for JPG/PNG images.
â€¢ SVM classifier trained on image features with standard scaling.
â€¢ Displays real-time confidence scores and probability break-downs.</a:t>
            </a:r>
            <a:endParaRPr lang="en-IN" sz="1100">
              <a:solidFill>
                <a:srgbClr val="FFFFFF"/>
              </a:solidFill>
              <a:latin typeface="Segoe UI" panose="020B0502040204020203" pitchFamily="34" charset="0"/>
            </a:endParaRP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4EA1750A-B639-A10D-2E10-CEADE0C54295}"/>
              </a:ext>
            </a:extLst>
          </p:cNvPr>
          <p:cNvSpPr txBox="1"/>
          <p:nvPr/>
        </p:nvSpPr>
        <p:spPr>
          <a:xfrm>
            <a:off x="508000" y="5461000"/>
            <a:ext cx="3810000" cy="430887"/>
          </a:xfrm>
          <a:prstGeom prst="rect">
            <a:avLst/>
          </a:prstGeom>
          <a:noFill/>
        </p:spPr>
        <p:txBody>
          <a:bodyPr vert="horz" wrap="square" rtlCol="0">
            <a:spAutoFit/>
          </a:bodyPr>
          <a:lstStyle/>
          <a:p>
            <a:r>
              <a:rPr lang="en-US" sz="1100" b="1">
                <a:solidFill>
                  <a:srgbClr val="06B6D4"/>
                </a:solidFill>
                <a:latin typeface="Segoe UI" panose="020B0502040204020203" pitchFamily="34" charset="0"/>
              </a:rPr>
              <a:t>TECH STACK:
Streamlit, Scikit-learn, PIL, NumPy</a:t>
            </a:r>
            <a:endParaRPr lang="en-IN" sz="1100" b="1">
              <a:solidFill>
                <a:srgbClr val="06B6D4"/>
              </a:solidFill>
              <a:latin typeface="Segoe UI" panose="020B0502040204020203" pitchFamily="34" charset="0"/>
            </a:endParaRPr>
          </a:p>
        </p:txBody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F217E78B-E743-BC26-F640-19D3654B299C}"/>
              </a:ext>
            </a:extLst>
          </p:cNvPr>
          <p:cNvSpPr/>
          <p:nvPr/>
        </p:nvSpPr>
        <p:spPr>
          <a:xfrm>
            <a:off x="4445000" y="1143000"/>
            <a:ext cx="7366000" cy="4318000"/>
          </a:xfrm>
          <a:prstGeom prst="rect">
            <a:avLst/>
          </a:prstGeom>
          <a:solidFill>
            <a:srgbClr val="1E293B"/>
          </a:solidFill>
          <a:ln w="1905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IN"/>
          </a:p>
        </p:txBody>
      </p:sp>
      <p:pic>
        <p:nvPicPr>
          <p:cNvPr id="11" name="Picture 10">
            <a:extLst>
              <a:ext uri="{FF2B5EF4-FFF2-40B4-BE49-F238E27FC236}">
                <a16:creationId xmlns:a16="http://schemas.microsoft.com/office/drawing/2014/main" id="{E57B7F58-8AED-1982-F41E-EB9F2AF81431}"/>
              </a:ext>
            </a:extLst>
          </p:cNvPr>
          <p:cNvPicPr>
            <a:picLocks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635500" y="1333500"/>
            <a:ext cx="6985000" cy="3924300"/>
          </a:xfrm>
          <a:prstGeom prst="rect">
            <a:avLst/>
          </a:prstGeom>
          <a:ln w="12700">
            <a:solidFill>
              <a:srgbClr val="94A3B8"/>
            </a:solidFill>
          </a:ln>
        </p:spPr>
      </p:pic>
    </p:spTree>
    <p:extLst>
      <p:ext uri="{BB962C8B-B14F-4D97-AF65-F5344CB8AC3E}">
        <p14:creationId xmlns:p14="http://schemas.microsoft.com/office/powerpoint/2010/main" val="1313113073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BED85D11-47A0-A4C0-A892-12B0AC1A00D2}"/>
              </a:ext>
            </a:extLst>
          </p:cNvPr>
          <p:cNvSpPr txBox="1"/>
          <p:nvPr/>
        </p:nvSpPr>
        <p:spPr>
          <a:xfrm>
            <a:off x="508000" y="508000"/>
            <a:ext cx="3810000" cy="400110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r>
              <a:rPr lang="en-US" sz="1000" b="1">
                <a:solidFill>
                  <a:srgbClr val="94A3B8"/>
                </a:solidFill>
                <a:latin typeface="Segoe UI" panose="020B0502040204020203" pitchFamily="34" charset="0"/>
              </a:rPr>
              <a:t>PROJECT 04 OF 11  â€¢  BUSINESS INTELLIGENCE &amp; HR ANALYTICS</a:t>
            </a:r>
            <a:endParaRPr lang="en-IN" sz="1000" b="1">
              <a:solidFill>
                <a:srgbClr val="94A3B8"/>
              </a:solidFill>
              <a:latin typeface="Segoe UI" panose="020B0502040204020203" pitchFamily="34" charset="0"/>
            </a:endParaRP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78BED19B-C51F-11E9-04F7-4BD034B26127}"/>
              </a:ext>
            </a:extLst>
          </p:cNvPr>
          <p:cNvSpPr txBox="1"/>
          <p:nvPr/>
        </p:nvSpPr>
        <p:spPr>
          <a:xfrm>
            <a:off x="508000" y="762000"/>
            <a:ext cx="3810000" cy="769441"/>
          </a:xfrm>
          <a:prstGeom prst="rect">
            <a:avLst/>
          </a:prstGeom>
          <a:noFill/>
        </p:spPr>
        <p:txBody>
          <a:bodyPr vert="horz" wrap="square" rtlCol="0">
            <a:spAutoFit/>
          </a:bodyPr>
          <a:lstStyle/>
          <a:p>
            <a:r>
              <a:rPr lang="en-IN" sz="2200" b="1">
                <a:solidFill>
                  <a:srgbClr val="FFFFFF"/>
                </a:solidFill>
                <a:latin typeface="Segoe UI" panose="020B0502040204020203" pitchFamily="34" charset="0"/>
              </a:rPr>
              <a:t>Employee Retention Analysis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C65596BF-1F2E-9B08-6337-3E5FE4179F4B}"/>
              </a:ext>
            </a:extLst>
          </p:cNvPr>
          <p:cNvSpPr txBox="1"/>
          <p:nvPr/>
        </p:nvSpPr>
        <p:spPr>
          <a:xfrm>
            <a:off x="508000" y="1714500"/>
            <a:ext cx="3810000" cy="461665"/>
          </a:xfrm>
          <a:prstGeom prst="rect">
            <a:avLst/>
          </a:prstGeom>
          <a:noFill/>
        </p:spPr>
        <p:txBody>
          <a:bodyPr vert="horz" wrap="square" rtlCol="0">
            <a:spAutoFit/>
          </a:bodyPr>
          <a:lstStyle/>
          <a:p>
            <a:r>
              <a:rPr lang="en-US" sz="1200">
                <a:solidFill>
                  <a:srgbClr val="94A3B8"/>
                </a:solidFill>
                <a:latin typeface="Segoe UI" panose="020B0502040204020203" pitchFamily="34" charset="0"/>
              </a:rPr>
              <a:t>Human Resources analytics platform investigating factors driving employee resignation rates</a:t>
            </a:r>
            <a:endParaRPr lang="en-IN" sz="1200">
              <a:solidFill>
                <a:srgbClr val="94A3B8"/>
              </a:solidFill>
              <a:latin typeface="Segoe UI" panose="020B0502040204020203" pitchFamily="34" charset="0"/>
            </a:endParaRPr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BA8CF232-6BC6-A53A-ABCF-D4528011FFC1}"/>
              </a:ext>
            </a:extLst>
          </p:cNvPr>
          <p:cNvSpPr/>
          <p:nvPr/>
        </p:nvSpPr>
        <p:spPr>
          <a:xfrm>
            <a:off x="508000" y="2476500"/>
            <a:ext cx="762000" cy="38100"/>
          </a:xfrm>
          <a:prstGeom prst="rect">
            <a:avLst/>
          </a:prstGeom>
          <a:solidFill>
            <a:srgbClr val="06B6D4"/>
          </a:solidFill>
          <a:ln w="1905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IN"/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C9579E84-91C8-5ABD-4CC5-3202EE2CFA50}"/>
              </a:ext>
            </a:extLst>
          </p:cNvPr>
          <p:cNvSpPr txBox="1"/>
          <p:nvPr/>
        </p:nvSpPr>
        <p:spPr>
          <a:xfrm>
            <a:off x="508000" y="2603500"/>
            <a:ext cx="3810000" cy="261610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r>
              <a:rPr lang="en-IN" sz="1100" b="1">
                <a:solidFill>
                  <a:srgbClr val="FB923C"/>
                </a:solidFill>
                <a:latin typeface="Segoe UI" panose="020B0502040204020203" pitchFamily="34" charset="0"/>
              </a:rPr>
              <a:t>KEY FEATURES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CF770065-C86B-96BA-AE12-AE94BCE7DB49}"/>
              </a:ext>
            </a:extLst>
          </p:cNvPr>
          <p:cNvSpPr txBox="1"/>
          <p:nvPr/>
        </p:nvSpPr>
        <p:spPr>
          <a:xfrm>
            <a:off x="508000" y="2921000"/>
            <a:ext cx="3810000" cy="1446550"/>
          </a:xfrm>
          <a:prstGeom prst="rect">
            <a:avLst/>
          </a:prstGeom>
          <a:noFill/>
        </p:spPr>
        <p:txBody>
          <a:bodyPr vert="horz" wrap="square" rtlCol="0">
            <a:spAutoFit/>
          </a:bodyPr>
          <a:lstStyle/>
          <a:p>
            <a:r>
              <a:rPr lang="en-US" sz="1100">
                <a:solidFill>
                  <a:srgbClr val="FFFFFF"/>
                </a:solidFill>
                <a:latin typeface="Segoe UI" panose="020B0502040204020203" pitchFamily="34" charset="0"/>
              </a:rPr>
              <a:t>â€¢ Departmental attrition analysis showing which roles have highest turnover.
â€¢ Salary level comparisons highlighting the impact of compensation.
â€¢ Interactive filtering widgets for tailored exploration of data.</a:t>
            </a:r>
            <a:endParaRPr lang="en-IN" sz="1100">
              <a:solidFill>
                <a:srgbClr val="FFFFFF"/>
              </a:solidFill>
              <a:latin typeface="Segoe UI" panose="020B0502040204020203" pitchFamily="34" charset="0"/>
            </a:endParaRP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BD689AC0-1F42-4580-953E-D10EC77F7EBC}"/>
              </a:ext>
            </a:extLst>
          </p:cNvPr>
          <p:cNvSpPr txBox="1"/>
          <p:nvPr/>
        </p:nvSpPr>
        <p:spPr>
          <a:xfrm>
            <a:off x="508000" y="5461000"/>
            <a:ext cx="3810000" cy="430887"/>
          </a:xfrm>
          <a:prstGeom prst="rect">
            <a:avLst/>
          </a:prstGeom>
          <a:noFill/>
        </p:spPr>
        <p:txBody>
          <a:bodyPr vert="horz" wrap="square" rtlCol="0">
            <a:spAutoFit/>
          </a:bodyPr>
          <a:lstStyle/>
          <a:p>
            <a:r>
              <a:rPr lang="en-US" sz="1100" b="1">
                <a:solidFill>
                  <a:srgbClr val="06B6D4"/>
                </a:solidFill>
                <a:latin typeface="Segoe UI" panose="020B0502040204020203" pitchFamily="34" charset="0"/>
              </a:rPr>
              <a:t>TECH STACK:
Streamlit, Plotly, Pandas, NumPy</a:t>
            </a:r>
            <a:endParaRPr lang="en-IN" sz="1100" b="1">
              <a:solidFill>
                <a:srgbClr val="06B6D4"/>
              </a:solidFill>
              <a:latin typeface="Segoe UI" panose="020B0502040204020203" pitchFamily="34" charset="0"/>
            </a:endParaRPr>
          </a:p>
        </p:txBody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8296103E-B6BA-83DA-D2CE-EAED73B80F85}"/>
              </a:ext>
            </a:extLst>
          </p:cNvPr>
          <p:cNvSpPr/>
          <p:nvPr/>
        </p:nvSpPr>
        <p:spPr>
          <a:xfrm>
            <a:off x="4445000" y="1143000"/>
            <a:ext cx="7366000" cy="4318000"/>
          </a:xfrm>
          <a:prstGeom prst="rect">
            <a:avLst/>
          </a:prstGeom>
          <a:solidFill>
            <a:srgbClr val="1E293B"/>
          </a:solidFill>
          <a:ln w="1905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IN"/>
          </a:p>
        </p:txBody>
      </p:sp>
      <p:pic>
        <p:nvPicPr>
          <p:cNvPr id="11" name="Picture 10">
            <a:extLst>
              <a:ext uri="{FF2B5EF4-FFF2-40B4-BE49-F238E27FC236}">
                <a16:creationId xmlns:a16="http://schemas.microsoft.com/office/drawing/2014/main" id="{626868D7-C010-5080-0322-F03CCFDDEC32}"/>
              </a:ext>
            </a:extLst>
          </p:cNvPr>
          <p:cNvPicPr>
            <a:picLocks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635500" y="1333500"/>
            <a:ext cx="6985000" cy="3924300"/>
          </a:xfrm>
          <a:prstGeom prst="rect">
            <a:avLst/>
          </a:prstGeom>
          <a:ln w="12700">
            <a:solidFill>
              <a:srgbClr val="94A3B8"/>
            </a:solidFill>
          </a:ln>
        </p:spPr>
      </p:pic>
    </p:spTree>
    <p:extLst>
      <p:ext uri="{BB962C8B-B14F-4D97-AF65-F5344CB8AC3E}">
        <p14:creationId xmlns:p14="http://schemas.microsoft.com/office/powerpoint/2010/main" val="3617670471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DB9FFF45-38F3-F8E8-F6B0-3AA91519162A}"/>
              </a:ext>
            </a:extLst>
          </p:cNvPr>
          <p:cNvSpPr txBox="1"/>
          <p:nvPr/>
        </p:nvSpPr>
        <p:spPr>
          <a:xfrm>
            <a:off x="508000" y="508000"/>
            <a:ext cx="3810000" cy="400110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r>
              <a:rPr lang="en-US" sz="1000" b="1">
                <a:solidFill>
                  <a:srgbClr val="94A3B8"/>
                </a:solidFill>
                <a:latin typeface="Segoe UI" panose="020B0502040204020203" pitchFamily="34" charset="0"/>
              </a:rPr>
              <a:t>PROJECT 05 OF 11  â€¢  UNSUPERVISED LEARNING &amp; SEGMENTATION</a:t>
            </a:r>
            <a:endParaRPr lang="en-IN" sz="1000" b="1">
              <a:solidFill>
                <a:srgbClr val="94A3B8"/>
              </a:solidFill>
              <a:latin typeface="Segoe UI" panose="020B0502040204020203" pitchFamily="34" charset="0"/>
            </a:endParaRP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474DA2E1-E09A-542D-8370-27E0A7F2AC07}"/>
              </a:ext>
            </a:extLst>
          </p:cNvPr>
          <p:cNvSpPr txBox="1"/>
          <p:nvPr/>
        </p:nvSpPr>
        <p:spPr>
          <a:xfrm>
            <a:off x="508000" y="762000"/>
            <a:ext cx="3810000" cy="430887"/>
          </a:xfrm>
          <a:prstGeom prst="rect">
            <a:avLst/>
          </a:prstGeom>
          <a:noFill/>
        </p:spPr>
        <p:txBody>
          <a:bodyPr vert="horz" wrap="square" rtlCol="0">
            <a:spAutoFit/>
          </a:bodyPr>
          <a:lstStyle/>
          <a:p>
            <a:r>
              <a:rPr lang="en-IN" sz="2200" b="1">
                <a:solidFill>
                  <a:srgbClr val="FFFFFF"/>
                </a:solidFill>
                <a:latin typeface="Segoe UI" panose="020B0502040204020203" pitchFamily="34" charset="0"/>
              </a:rPr>
              <a:t>K-Means Income Clustering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959B07A9-8EF0-8710-4AC8-DF8C9877D588}"/>
              </a:ext>
            </a:extLst>
          </p:cNvPr>
          <p:cNvSpPr txBox="1"/>
          <p:nvPr/>
        </p:nvSpPr>
        <p:spPr>
          <a:xfrm>
            <a:off x="508000" y="1714500"/>
            <a:ext cx="3810000" cy="646331"/>
          </a:xfrm>
          <a:prstGeom prst="rect">
            <a:avLst/>
          </a:prstGeom>
          <a:noFill/>
        </p:spPr>
        <p:txBody>
          <a:bodyPr vert="horz" wrap="square" rtlCol="0">
            <a:spAutoFit/>
          </a:bodyPr>
          <a:lstStyle/>
          <a:p>
            <a:r>
              <a:rPr lang="en-US" sz="1200">
                <a:solidFill>
                  <a:srgbClr val="94A3B8"/>
                </a:solidFill>
                <a:latin typeface="Segoe UI" panose="020B0502040204020203" pitchFamily="34" charset="0"/>
              </a:rPr>
              <a:t>Unsupervised learning app grouping customers into distinct demographic segments based on age and income</a:t>
            </a:r>
            <a:endParaRPr lang="en-IN" sz="1200">
              <a:solidFill>
                <a:srgbClr val="94A3B8"/>
              </a:solidFill>
              <a:latin typeface="Segoe UI" panose="020B0502040204020203" pitchFamily="34" charset="0"/>
            </a:endParaRPr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F0D80DC9-F2CB-43A8-120A-ED2556948F72}"/>
              </a:ext>
            </a:extLst>
          </p:cNvPr>
          <p:cNvSpPr/>
          <p:nvPr/>
        </p:nvSpPr>
        <p:spPr>
          <a:xfrm>
            <a:off x="508000" y="2476500"/>
            <a:ext cx="762000" cy="38100"/>
          </a:xfrm>
          <a:prstGeom prst="rect">
            <a:avLst/>
          </a:prstGeom>
          <a:solidFill>
            <a:srgbClr val="06B6D4"/>
          </a:solidFill>
          <a:ln w="1905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IN"/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3AE406CE-9256-8865-0A53-4449E875E057}"/>
              </a:ext>
            </a:extLst>
          </p:cNvPr>
          <p:cNvSpPr txBox="1"/>
          <p:nvPr/>
        </p:nvSpPr>
        <p:spPr>
          <a:xfrm>
            <a:off x="508000" y="2603500"/>
            <a:ext cx="3810000" cy="261610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r>
              <a:rPr lang="en-IN" sz="1100" b="1">
                <a:solidFill>
                  <a:srgbClr val="FB923C"/>
                </a:solidFill>
                <a:latin typeface="Segoe UI" panose="020B0502040204020203" pitchFamily="34" charset="0"/>
              </a:rPr>
              <a:t>KEY FEATURES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5F4C2700-EB2E-8AEE-A2C5-5249321BB15B}"/>
              </a:ext>
            </a:extLst>
          </p:cNvPr>
          <p:cNvSpPr txBox="1"/>
          <p:nvPr/>
        </p:nvSpPr>
        <p:spPr>
          <a:xfrm>
            <a:off x="508000" y="2921000"/>
            <a:ext cx="3810000" cy="1277273"/>
          </a:xfrm>
          <a:prstGeom prst="rect">
            <a:avLst/>
          </a:prstGeom>
          <a:noFill/>
        </p:spPr>
        <p:txBody>
          <a:bodyPr vert="horz" wrap="square" rtlCol="0">
            <a:spAutoFit/>
          </a:bodyPr>
          <a:lstStyle/>
          <a:p>
            <a:r>
              <a:rPr lang="en-IN" sz="1100">
                <a:solidFill>
                  <a:srgbClr val="FFFFFF"/>
                </a:solidFill>
                <a:latin typeface="Segoe UI" panose="020B0502040204020203" pitchFamily="34" charset="0"/>
              </a:rPr>
              <a:t>â€¢ Dynamic cluster count selector (K slider) for rapid iteration.
â€¢ Elbow method chart built-in for finding optimal cluster count.
â€¢ Interactive scatter plots visualizing cluster centroids.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B4949DDF-4842-9D8F-44B6-86BA7237DF0C}"/>
              </a:ext>
            </a:extLst>
          </p:cNvPr>
          <p:cNvSpPr txBox="1"/>
          <p:nvPr/>
        </p:nvSpPr>
        <p:spPr>
          <a:xfrm>
            <a:off x="508000" y="5461000"/>
            <a:ext cx="3810000" cy="430887"/>
          </a:xfrm>
          <a:prstGeom prst="rect">
            <a:avLst/>
          </a:prstGeom>
          <a:noFill/>
        </p:spPr>
        <p:txBody>
          <a:bodyPr vert="horz" wrap="square" rtlCol="0">
            <a:spAutoFit/>
          </a:bodyPr>
          <a:lstStyle/>
          <a:p>
            <a:r>
              <a:rPr lang="en-US" sz="1100" b="1">
                <a:solidFill>
                  <a:srgbClr val="06B6D4"/>
                </a:solidFill>
                <a:latin typeface="Segoe UI" panose="020B0502040204020203" pitchFamily="34" charset="0"/>
              </a:rPr>
              <a:t>TECH STACK:
Streamlit, Scikit-learn, Plotly, Pandas</a:t>
            </a:r>
            <a:endParaRPr lang="en-IN" sz="1100" b="1">
              <a:solidFill>
                <a:srgbClr val="06B6D4"/>
              </a:solidFill>
              <a:latin typeface="Segoe UI" panose="020B0502040204020203" pitchFamily="34" charset="0"/>
            </a:endParaRPr>
          </a:p>
        </p:txBody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6FAE92CA-B89E-B762-05A3-D79CA173CF47}"/>
              </a:ext>
            </a:extLst>
          </p:cNvPr>
          <p:cNvSpPr/>
          <p:nvPr/>
        </p:nvSpPr>
        <p:spPr>
          <a:xfrm>
            <a:off x="4445000" y="1143000"/>
            <a:ext cx="7366000" cy="4318000"/>
          </a:xfrm>
          <a:prstGeom prst="rect">
            <a:avLst/>
          </a:prstGeom>
          <a:solidFill>
            <a:srgbClr val="1E293B"/>
          </a:solidFill>
          <a:ln w="1905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IN"/>
          </a:p>
        </p:txBody>
      </p:sp>
      <p:pic>
        <p:nvPicPr>
          <p:cNvPr id="11" name="Picture 10">
            <a:extLst>
              <a:ext uri="{FF2B5EF4-FFF2-40B4-BE49-F238E27FC236}">
                <a16:creationId xmlns:a16="http://schemas.microsoft.com/office/drawing/2014/main" id="{FFCB994B-AC8D-FE58-03CD-518CE3D143BF}"/>
              </a:ext>
            </a:extLst>
          </p:cNvPr>
          <p:cNvPicPr>
            <a:picLocks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635500" y="1333500"/>
            <a:ext cx="6985000" cy="3924300"/>
          </a:xfrm>
          <a:prstGeom prst="rect">
            <a:avLst/>
          </a:prstGeom>
          <a:ln w="12700">
            <a:solidFill>
              <a:srgbClr val="94A3B8"/>
            </a:solidFill>
          </a:ln>
        </p:spPr>
      </p:pic>
    </p:spTree>
    <p:extLst>
      <p:ext uri="{BB962C8B-B14F-4D97-AF65-F5344CB8AC3E}">
        <p14:creationId xmlns:p14="http://schemas.microsoft.com/office/powerpoint/2010/main" val="2487497220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C7257E03-7CB3-C3EA-D96F-D0B155E0B938}"/>
              </a:ext>
            </a:extLst>
          </p:cNvPr>
          <p:cNvSpPr txBox="1"/>
          <p:nvPr/>
        </p:nvSpPr>
        <p:spPr>
          <a:xfrm>
            <a:off x="508000" y="508000"/>
            <a:ext cx="3810000" cy="400110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r>
              <a:rPr lang="en-US" sz="1000" b="1">
                <a:solidFill>
                  <a:srgbClr val="94A3B8"/>
                </a:solidFill>
                <a:latin typeface="Segoe UI" panose="020B0502040204020203" pitchFamily="34" charset="0"/>
              </a:rPr>
              <a:t>PROJECT 06 OF 11  â€¢  SUPERVISED ML &amp; REGRESSION VALUATION</a:t>
            </a:r>
            <a:endParaRPr lang="en-IN" sz="1000" b="1">
              <a:solidFill>
                <a:srgbClr val="94A3B8"/>
              </a:solidFill>
              <a:latin typeface="Segoe UI" panose="020B0502040204020203" pitchFamily="34" charset="0"/>
            </a:endParaRP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DCE41083-3714-6990-DE1F-28440E0B454B}"/>
              </a:ext>
            </a:extLst>
          </p:cNvPr>
          <p:cNvSpPr txBox="1"/>
          <p:nvPr/>
        </p:nvSpPr>
        <p:spPr>
          <a:xfrm>
            <a:off x="508000" y="762000"/>
            <a:ext cx="3810000" cy="430887"/>
          </a:xfrm>
          <a:prstGeom prst="rect">
            <a:avLst/>
          </a:prstGeom>
          <a:noFill/>
        </p:spPr>
        <p:txBody>
          <a:bodyPr vert="horz" wrap="square" rtlCol="0">
            <a:spAutoFit/>
          </a:bodyPr>
          <a:lstStyle/>
          <a:p>
            <a:r>
              <a:rPr lang="en-IN" sz="2200" b="1">
                <a:solidFill>
                  <a:srgbClr val="FFFFFF"/>
                </a:solidFill>
                <a:latin typeface="Segoe UI" panose="020B0502040204020203" pitchFamily="34" charset="0"/>
              </a:rPr>
              <a:t>House Price Prediction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7CC62DD2-4771-A691-2468-C3A23CB913B0}"/>
              </a:ext>
            </a:extLst>
          </p:cNvPr>
          <p:cNvSpPr txBox="1"/>
          <p:nvPr/>
        </p:nvSpPr>
        <p:spPr>
          <a:xfrm>
            <a:off x="508000" y="1714500"/>
            <a:ext cx="3810000" cy="461665"/>
          </a:xfrm>
          <a:prstGeom prst="rect">
            <a:avLst/>
          </a:prstGeom>
          <a:noFill/>
        </p:spPr>
        <p:txBody>
          <a:bodyPr vert="horz" wrap="square" rtlCol="0">
            <a:spAutoFit/>
          </a:bodyPr>
          <a:lstStyle/>
          <a:p>
            <a:r>
              <a:rPr lang="en-US" sz="1200">
                <a:solidFill>
                  <a:srgbClr val="94A3B8"/>
                </a:solidFill>
                <a:latin typeface="Segoe UI" panose="020B0502040204020203" pitchFamily="34" charset="0"/>
              </a:rPr>
              <a:t>Predictive modeling application estimating real estate valuations based on square footage</a:t>
            </a:r>
            <a:endParaRPr lang="en-IN" sz="1200">
              <a:solidFill>
                <a:srgbClr val="94A3B8"/>
              </a:solidFill>
              <a:latin typeface="Segoe UI" panose="020B0502040204020203" pitchFamily="34" charset="0"/>
            </a:endParaRPr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DEFFB017-B7A5-A856-532D-D7FB21D50131}"/>
              </a:ext>
            </a:extLst>
          </p:cNvPr>
          <p:cNvSpPr/>
          <p:nvPr/>
        </p:nvSpPr>
        <p:spPr>
          <a:xfrm>
            <a:off x="508000" y="2476500"/>
            <a:ext cx="762000" cy="38100"/>
          </a:xfrm>
          <a:prstGeom prst="rect">
            <a:avLst/>
          </a:prstGeom>
          <a:solidFill>
            <a:srgbClr val="06B6D4"/>
          </a:solidFill>
          <a:ln w="1905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IN"/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0C335DEB-E61F-4EE4-91DB-25A836D9D640}"/>
              </a:ext>
            </a:extLst>
          </p:cNvPr>
          <p:cNvSpPr txBox="1"/>
          <p:nvPr/>
        </p:nvSpPr>
        <p:spPr>
          <a:xfrm>
            <a:off x="508000" y="2603500"/>
            <a:ext cx="3810000" cy="261610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r>
              <a:rPr lang="en-IN" sz="1100" b="1">
                <a:solidFill>
                  <a:srgbClr val="FB923C"/>
                </a:solidFill>
                <a:latin typeface="Segoe UI" panose="020B0502040204020203" pitchFamily="34" charset="0"/>
              </a:rPr>
              <a:t>KEY FEATURES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DCC9FF34-E906-674E-6547-D19395C4EB5F}"/>
              </a:ext>
            </a:extLst>
          </p:cNvPr>
          <p:cNvSpPr txBox="1"/>
          <p:nvPr/>
        </p:nvSpPr>
        <p:spPr>
          <a:xfrm>
            <a:off x="508000" y="2921000"/>
            <a:ext cx="3810000" cy="1446550"/>
          </a:xfrm>
          <a:prstGeom prst="rect">
            <a:avLst/>
          </a:prstGeom>
          <a:noFill/>
        </p:spPr>
        <p:txBody>
          <a:bodyPr vert="horz" wrap="square" rtlCol="0">
            <a:spAutoFit/>
          </a:bodyPr>
          <a:lstStyle/>
          <a:p>
            <a:r>
              <a:rPr lang="en-IN" sz="1100">
                <a:solidFill>
                  <a:srgbClr val="FFFFFF"/>
                </a:solidFill>
                <a:latin typeface="Segoe UI" panose="020B0502040204020203" pitchFamily="34" charset="0"/>
              </a:rPr>
              <a:t>â€¢ Interactive area input box with instantaneous prediction response.
â€¢ Real-time linear regression line fitting to visualize trends.
â€¢ Displays slope and intercept parameters for mathematical transparency.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950D55A2-D3BA-CB50-F184-13D2B3FA999B}"/>
              </a:ext>
            </a:extLst>
          </p:cNvPr>
          <p:cNvSpPr txBox="1"/>
          <p:nvPr/>
        </p:nvSpPr>
        <p:spPr>
          <a:xfrm>
            <a:off x="508000" y="5461000"/>
            <a:ext cx="3810000" cy="430887"/>
          </a:xfrm>
          <a:prstGeom prst="rect">
            <a:avLst/>
          </a:prstGeom>
          <a:noFill/>
        </p:spPr>
        <p:txBody>
          <a:bodyPr vert="horz" wrap="square" rtlCol="0">
            <a:spAutoFit/>
          </a:bodyPr>
          <a:lstStyle/>
          <a:p>
            <a:r>
              <a:rPr lang="en-US" sz="1100" b="1">
                <a:solidFill>
                  <a:srgbClr val="06B6D4"/>
                </a:solidFill>
                <a:latin typeface="Segoe UI" panose="020B0502040204020203" pitchFamily="34" charset="0"/>
              </a:rPr>
              <a:t>TECH STACK:
Streamlit, Scikit-learn, Plotly, Pandas</a:t>
            </a:r>
            <a:endParaRPr lang="en-IN" sz="1100" b="1">
              <a:solidFill>
                <a:srgbClr val="06B6D4"/>
              </a:solidFill>
              <a:latin typeface="Segoe UI" panose="020B0502040204020203" pitchFamily="34" charset="0"/>
            </a:endParaRPr>
          </a:p>
        </p:txBody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5D1AA313-3785-0E25-D14F-7DC601183EF1}"/>
              </a:ext>
            </a:extLst>
          </p:cNvPr>
          <p:cNvSpPr/>
          <p:nvPr/>
        </p:nvSpPr>
        <p:spPr>
          <a:xfrm>
            <a:off x="4445000" y="1143000"/>
            <a:ext cx="7366000" cy="4318000"/>
          </a:xfrm>
          <a:prstGeom prst="rect">
            <a:avLst/>
          </a:prstGeom>
          <a:solidFill>
            <a:srgbClr val="1E293B"/>
          </a:solidFill>
          <a:ln w="1905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IN"/>
          </a:p>
        </p:txBody>
      </p:sp>
      <p:pic>
        <p:nvPicPr>
          <p:cNvPr id="11" name="Picture 10">
            <a:extLst>
              <a:ext uri="{FF2B5EF4-FFF2-40B4-BE49-F238E27FC236}">
                <a16:creationId xmlns:a16="http://schemas.microsoft.com/office/drawing/2014/main" id="{676B387F-AA63-961C-A052-F0DB391528B3}"/>
              </a:ext>
            </a:extLst>
          </p:cNvPr>
          <p:cNvPicPr>
            <a:picLocks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635500" y="1333500"/>
            <a:ext cx="6985000" cy="3924300"/>
          </a:xfrm>
          <a:prstGeom prst="rect">
            <a:avLst/>
          </a:prstGeom>
          <a:ln w="12700">
            <a:solidFill>
              <a:srgbClr val="94A3B8"/>
            </a:solidFill>
          </a:ln>
        </p:spPr>
      </p:pic>
    </p:spTree>
    <p:extLst>
      <p:ext uri="{BB962C8B-B14F-4D97-AF65-F5344CB8AC3E}">
        <p14:creationId xmlns:p14="http://schemas.microsoft.com/office/powerpoint/2010/main" val="4005079793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626F1DF1-F9CF-5179-D4B9-69946A3BBD9F}"/>
              </a:ext>
            </a:extLst>
          </p:cNvPr>
          <p:cNvSpPr txBox="1"/>
          <p:nvPr/>
        </p:nvSpPr>
        <p:spPr>
          <a:xfrm>
            <a:off x="508000" y="508000"/>
            <a:ext cx="3810000" cy="400110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r>
              <a:rPr lang="en-US" sz="1000" b="1">
                <a:solidFill>
                  <a:srgbClr val="94A3B8"/>
                </a:solidFill>
                <a:latin typeface="Segoe UI" panose="020B0502040204020203" pitchFamily="34" charset="0"/>
              </a:rPr>
              <a:t>PROJECT 07 OF 11  â€¢  SUPERVISED ML &amp; BINARY CLASSIFICATION</a:t>
            </a:r>
            <a:endParaRPr lang="en-IN" sz="1000" b="1">
              <a:solidFill>
                <a:srgbClr val="94A3B8"/>
              </a:solidFill>
              <a:latin typeface="Segoe UI" panose="020B0502040204020203" pitchFamily="34" charset="0"/>
            </a:endParaRP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77D34E09-8208-FC5D-E99E-706C03131754}"/>
              </a:ext>
            </a:extLst>
          </p:cNvPr>
          <p:cNvSpPr txBox="1"/>
          <p:nvPr/>
        </p:nvSpPr>
        <p:spPr>
          <a:xfrm>
            <a:off x="508000" y="762000"/>
            <a:ext cx="3810000" cy="769441"/>
          </a:xfrm>
          <a:prstGeom prst="rect">
            <a:avLst/>
          </a:prstGeom>
          <a:noFill/>
        </p:spPr>
        <p:txBody>
          <a:bodyPr vert="horz" wrap="square" rtlCol="0">
            <a:spAutoFit/>
          </a:bodyPr>
          <a:lstStyle/>
          <a:p>
            <a:r>
              <a:rPr lang="en-IN" sz="2200" b="1">
                <a:solidFill>
                  <a:srgbClr val="FFFFFF"/>
                </a:solidFill>
                <a:latin typeface="Segoe UI" panose="020B0502040204020203" pitchFamily="34" charset="0"/>
              </a:rPr>
              <a:t>Insurance Logistic Regression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0B08C9B2-C0FD-0596-55A0-8363BAD523D1}"/>
              </a:ext>
            </a:extLst>
          </p:cNvPr>
          <p:cNvSpPr txBox="1"/>
          <p:nvPr/>
        </p:nvSpPr>
        <p:spPr>
          <a:xfrm>
            <a:off x="508000" y="1714500"/>
            <a:ext cx="3810000" cy="461665"/>
          </a:xfrm>
          <a:prstGeom prst="rect">
            <a:avLst/>
          </a:prstGeom>
          <a:noFill/>
        </p:spPr>
        <p:txBody>
          <a:bodyPr vert="horz" wrap="square" rtlCol="0">
            <a:spAutoFit/>
          </a:bodyPr>
          <a:lstStyle/>
          <a:p>
            <a:r>
              <a:rPr lang="en-US" sz="1200">
                <a:solidFill>
                  <a:srgbClr val="94A3B8"/>
                </a:solidFill>
                <a:latin typeface="Segoe UI" panose="020B0502040204020203" pitchFamily="34" charset="0"/>
              </a:rPr>
              <a:t>Classification model predicting whether a customer will purchase insurance based on age</a:t>
            </a:r>
            <a:endParaRPr lang="en-IN" sz="1200">
              <a:solidFill>
                <a:srgbClr val="94A3B8"/>
              </a:solidFill>
              <a:latin typeface="Segoe UI" panose="020B0502040204020203" pitchFamily="34" charset="0"/>
            </a:endParaRPr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B55B7501-152C-A330-18DD-138B36C49550}"/>
              </a:ext>
            </a:extLst>
          </p:cNvPr>
          <p:cNvSpPr/>
          <p:nvPr/>
        </p:nvSpPr>
        <p:spPr>
          <a:xfrm>
            <a:off x="508000" y="2476500"/>
            <a:ext cx="762000" cy="38100"/>
          </a:xfrm>
          <a:prstGeom prst="rect">
            <a:avLst/>
          </a:prstGeom>
          <a:solidFill>
            <a:srgbClr val="06B6D4"/>
          </a:solidFill>
          <a:ln w="1905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IN"/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51D85850-3F62-4921-C240-799A8A0B99F2}"/>
              </a:ext>
            </a:extLst>
          </p:cNvPr>
          <p:cNvSpPr txBox="1"/>
          <p:nvPr/>
        </p:nvSpPr>
        <p:spPr>
          <a:xfrm>
            <a:off x="508000" y="2603500"/>
            <a:ext cx="3810000" cy="261610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r>
              <a:rPr lang="en-IN" sz="1100" b="1">
                <a:solidFill>
                  <a:srgbClr val="FB923C"/>
                </a:solidFill>
                <a:latin typeface="Segoe UI" panose="020B0502040204020203" pitchFamily="34" charset="0"/>
              </a:rPr>
              <a:t>KEY FEATURES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D5BECB5E-4B67-4BDB-8D2C-482D08634482}"/>
              </a:ext>
            </a:extLst>
          </p:cNvPr>
          <p:cNvSpPr txBox="1"/>
          <p:nvPr/>
        </p:nvSpPr>
        <p:spPr>
          <a:xfrm>
            <a:off x="508000" y="2921000"/>
            <a:ext cx="3810000" cy="1277273"/>
          </a:xfrm>
          <a:prstGeom prst="rect">
            <a:avLst/>
          </a:prstGeom>
          <a:noFill/>
        </p:spPr>
        <p:txBody>
          <a:bodyPr vert="horz" wrap="square" rtlCol="0">
            <a:spAutoFit/>
          </a:bodyPr>
          <a:lstStyle/>
          <a:p>
            <a:r>
              <a:rPr lang="en-US" sz="1100">
                <a:solidFill>
                  <a:srgbClr val="FFFFFF"/>
                </a:solidFill>
                <a:latin typeface="Segoe UI" panose="020B0502040204020203" pitchFamily="34" charset="0"/>
              </a:rPr>
              <a:t>â€¢ Probability sigmoid curve visualization mapping predictions.
â€¢ Decision boundary locator at 40.5 years shown on the graph.
â€¢ Interactive age input slider with probability estimation.</a:t>
            </a:r>
            <a:endParaRPr lang="en-IN" sz="1100">
              <a:solidFill>
                <a:srgbClr val="FFFFFF"/>
              </a:solidFill>
              <a:latin typeface="Segoe UI" panose="020B0502040204020203" pitchFamily="34" charset="0"/>
            </a:endParaRP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34239AAE-8602-FD68-A6B5-412EEF42117E}"/>
              </a:ext>
            </a:extLst>
          </p:cNvPr>
          <p:cNvSpPr txBox="1"/>
          <p:nvPr/>
        </p:nvSpPr>
        <p:spPr>
          <a:xfrm>
            <a:off x="508000" y="5461000"/>
            <a:ext cx="3810000" cy="430887"/>
          </a:xfrm>
          <a:prstGeom prst="rect">
            <a:avLst/>
          </a:prstGeom>
          <a:noFill/>
        </p:spPr>
        <p:txBody>
          <a:bodyPr vert="horz" wrap="square" rtlCol="0">
            <a:spAutoFit/>
          </a:bodyPr>
          <a:lstStyle/>
          <a:p>
            <a:r>
              <a:rPr lang="en-US" sz="1100" b="1">
                <a:solidFill>
                  <a:srgbClr val="06B6D4"/>
                </a:solidFill>
                <a:latin typeface="Segoe UI" panose="020B0502040204020203" pitchFamily="34" charset="0"/>
              </a:rPr>
              <a:t>TECH STACK:
Streamlit, Scikit-learn, Plotly, Pandas</a:t>
            </a:r>
            <a:endParaRPr lang="en-IN" sz="1100" b="1">
              <a:solidFill>
                <a:srgbClr val="06B6D4"/>
              </a:solidFill>
              <a:latin typeface="Segoe UI" panose="020B0502040204020203" pitchFamily="34" charset="0"/>
            </a:endParaRPr>
          </a:p>
        </p:txBody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BC918AB5-6321-415A-5C3A-B873C7B0BEBD}"/>
              </a:ext>
            </a:extLst>
          </p:cNvPr>
          <p:cNvSpPr/>
          <p:nvPr/>
        </p:nvSpPr>
        <p:spPr>
          <a:xfrm>
            <a:off x="4445000" y="1143000"/>
            <a:ext cx="7366000" cy="4318000"/>
          </a:xfrm>
          <a:prstGeom prst="rect">
            <a:avLst/>
          </a:prstGeom>
          <a:solidFill>
            <a:srgbClr val="1E293B"/>
          </a:solidFill>
          <a:ln w="1905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IN"/>
          </a:p>
        </p:txBody>
      </p:sp>
      <p:pic>
        <p:nvPicPr>
          <p:cNvPr id="11" name="Picture 10">
            <a:extLst>
              <a:ext uri="{FF2B5EF4-FFF2-40B4-BE49-F238E27FC236}">
                <a16:creationId xmlns:a16="http://schemas.microsoft.com/office/drawing/2014/main" id="{9F7A44B2-E950-19E2-2B65-DFB4DD5EE064}"/>
              </a:ext>
            </a:extLst>
          </p:cNvPr>
          <p:cNvPicPr>
            <a:picLocks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635500" y="1333500"/>
            <a:ext cx="6985000" cy="3924300"/>
          </a:xfrm>
          <a:prstGeom prst="rect">
            <a:avLst/>
          </a:prstGeom>
          <a:ln w="12700">
            <a:solidFill>
              <a:srgbClr val="94A3B8"/>
            </a:solidFill>
          </a:ln>
        </p:spPr>
      </p:pic>
    </p:spTree>
    <p:extLst>
      <p:ext uri="{BB962C8B-B14F-4D97-AF65-F5344CB8AC3E}">
        <p14:creationId xmlns:p14="http://schemas.microsoft.com/office/powerpoint/2010/main" val="1945882114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F708E5BE-A8FB-8476-6BD2-3AD44121A347}"/>
              </a:ext>
            </a:extLst>
          </p:cNvPr>
          <p:cNvSpPr txBox="1"/>
          <p:nvPr/>
        </p:nvSpPr>
        <p:spPr>
          <a:xfrm>
            <a:off x="508000" y="508000"/>
            <a:ext cx="3810000" cy="400110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r>
              <a:rPr lang="en-US" sz="1000" b="1">
                <a:solidFill>
                  <a:srgbClr val="94A3B8"/>
                </a:solidFill>
                <a:latin typeface="Segoe UI" panose="020B0502040204020203" pitchFamily="34" charset="0"/>
              </a:rPr>
              <a:t>PROJECT 08 OF 11  â€¢  RETRIEVAL-AUGMENTED GENERATION (RAG) &amp; LLMS</a:t>
            </a:r>
            <a:endParaRPr lang="en-IN" sz="1000" b="1">
              <a:solidFill>
                <a:srgbClr val="94A3B8"/>
              </a:solidFill>
              <a:latin typeface="Segoe UI" panose="020B0502040204020203" pitchFamily="34" charset="0"/>
            </a:endParaRP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9B11552A-4249-A417-E101-251A20D6C76A}"/>
              </a:ext>
            </a:extLst>
          </p:cNvPr>
          <p:cNvSpPr txBox="1"/>
          <p:nvPr/>
        </p:nvSpPr>
        <p:spPr>
          <a:xfrm>
            <a:off x="508000" y="762000"/>
            <a:ext cx="3810000" cy="769441"/>
          </a:xfrm>
          <a:prstGeom prst="rect">
            <a:avLst/>
          </a:prstGeom>
          <a:noFill/>
        </p:spPr>
        <p:txBody>
          <a:bodyPr vert="horz" wrap="square" rtlCol="0">
            <a:spAutoFit/>
          </a:bodyPr>
          <a:lstStyle/>
          <a:p>
            <a:r>
              <a:rPr lang="en-IN" sz="2200" b="1">
                <a:solidFill>
                  <a:srgbClr val="FFFFFF"/>
                </a:solidFill>
                <a:latin typeface="Segoe UI" panose="020B0502040204020203" pitchFamily="34" charset="0"/>
              </a:rPr>
              <a:t>Samsung Washing Machine Assistant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CCD091F2-E914-96B4-DA2D-90ED62549004}"/>
              </a:ext>
            </a:extLst>
          </p:cNvPr>
          <p:cNvSpPr txBox="1"/>
          <p:nvPr/>
        </p:nvSpPr>
        <p:spPr>
          <a:xfrm>
            <a:off x="508000" y="1714500"/>
            <a:ext cx="3810000" cy="461665"/>
          </a:xfrm>
          <a:prstGeom prst="rect">
            <a:avLst/>
          </a:prstGeom>
          <a:noFill/>
        </p:spPr>
        <p:txBody>
          <a:bodyPr vert="horz" wrap="square" rtlCol="0">
            <a:spAutoFit/>
          </a:bodyPr>
          <a:lstStyle/>
          <a:p>
            <a:r>
              <a:rPr lang="en-US" sz="1200">
                <a:solidFill>
                  <a:srgbClr val="94A3B8"/>
                </a:solidFill>
                <a:latin typeface="Segoe UI" panose="020B0502040204020203" pitchFamily="34" charset="0"/>
              </a:rPr>
              <a:t>AI-powered conversational assistant answering questions about user manuals</a:t>
            </a:r>
            <a:endParaRPr lang="en-IN" sz="1200">
              <a:solidFill>
                <a:srgbClr val="94A3B8"/>
              </a:solidFill>
              <a:latin typeface="Segoe UI" panose="020B0502040204020203" pitchFamily="34" charset="0"/>
            </a:endParaRPr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C9869AE1-F092-51B2-4227-021E2C4EE01C}"/>
              </a:ext>
            </a:extLst>
          </p:cNvPr>
          <p:cNvSpPr/>
          <p:nvPr/>
        </p:nvSpPr>
        <p:spPr>
          <a:xfrm>
            <a:off x="508000" y="2476500"/>
            <a:ext cx="762000" cy="38100"/>
          </a:xfrm>
          <a:prstGeom prst="rect">
            <a:avLst/>
          </a:prstGeom>
          <a:solidFill>
            <a:srgbClr val="06B6D4"/>
          </a:solidFill>
          <a:ln w="1905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IN"/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A80082F5-8B8C-27F9-206D-3FACFB37C86C}"/>
              </a:ext>
            </a:extLst>
          </p:cNvPr>
          <p:cNvSpPr txBox="1"/>
          <p:nvPr/>
        </p:nvSpPr>
        <p:spPr>
          <a:xfrm>
            <a:off x="508000" y="2603500"/>
            <a:ext cx="3810000" cy="261610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r>
              <a:rPr lang="en-IN" sz="1100" b="1">
                <a:solidFill>
                  <a:srgbClr val="FB923C"/>
                </a:solidFill>
                <a:latin typeface="Segoe UI" panose="020B0502040204020203" pitchFamily="34" charset="0"/>
              </a:rPr>
              <a:t>KEY FEATURES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0D47CA21-E7D9-2546-9C43-D8172DC769E1}"/>
              </a:ext>
            </a:extLst>
          </p:cNvPr>
          <p:cNvSpPr txBox="1"/>
          <p:nvPr/>
        </p:nvSpPr>
        <p:spPr>
          <a:xfrm>
            <a:off x="508000" y="2921000"/>
            <a:ext cx="3810000" cy="1446550"/>
          </a:xfrm>
          <a:prstGeom prst="rect">
            <a:avLst/>
          </a:prstGeom>
          <a:noFill/>
        </p:spPr>
        <p:txBody>
          <a:bodyPr vert="horz" wrap="square" rtlCol="0">
            <a:spAutoFit/>
          </a:bodyPr>
          <a:lstStyle/>
          <a:p>
            <a:r>
              <a:rPr lang="en-IN" sz="1100">
                <a:solidFill>
                  <a:srgbClr val="FFFFFF"/>
                </a:solidFill>
                <a:latin typeface="Segoe UI" panose="020B0502040204020203" pitchFamily="34" charset="0"/>
              </a:rPr>
              <a:t>â€¢ PDF/HTML manual ingestion for custom context retrieval.
â€¢ Contextual conversational Q&amp;A system powered by LLMs.
â€¢ Built-in demo/mock mode fallback for offline testing without API keys.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BEA0FDA4-0D01-D339-51F2-63886FD69271}"/>
              </a:ext>
            </a:extLst>
          </p:cNvPr>
          <p:cNvSpPr txBox="1"/>
          <p:nvPr/>
        </p:nvSpPr>
        <p:spPr>
          <a:xfrm>
            <a:off x="508000" y="5461000"/>
            <a:ext cx="3810000" cy="430887"/>
          </a:xfrm>
          <a:prstGeom prst="rect">
            <a:avLst/>
          </a:prstGeom>
          <a:noFill/>
        </p:spPr>
        <p:txBody>
          <a:bodyPr vert="horz" wrap="square" rtlCol="0">
            <a:spAutoFit/>
          </a:bodyPr>
          <a:lstStyle/>
          <a:p>
            <a:r>
              <a:rPr lang="en-US" sz="1100" b="1">
                <a:solidFill>
                  <a:srgbClr val="06B6D4"/>
                </a:solidFill>
                <a:latin typeface="Segoe UI" panose="020B0502040204020203" pitchFamily="34" charset="0"/>
              </a:rPr>
              <a:t>TECH STACK:
Streamlit, LangChain, OpenAI, Chromadb</a:t>
            </a:r>
            <a:endParaRPr lang="en-IN" sz="1100" b="1">
              <a:solidFill>
                <a:srgbClr val="06B6D4"/>
              </a:solidFill>
              <a:latin typeface="Segoe UI" panose="020B0502040204020203" pitchFamily="34" charset="0"/>
            </a:endParaRPr>
          </a:p>
        </p:txBody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F5425288-3CD4-235D-C9B9-D26359184035}"/>
              </a:ext>
            </a:extLst>
          </p:cNvPr>
          <p:cNvSpPr/>
          <p:nvPr/>
        </p:nvSpPr>
        <p:spPr>
          <a:xfrm>
            <a:off x="4445000" y="1143000"/>
            <a:ext cx="7366000" cy="4318000"/>
          </a:xfrm>
          <a:prstGeom prst="rect">
            <a:avLst/>
          </a:prstGeom>
          <a:solidFill>
            <a:srgbClr val="1E293B"/>
          </a:solidFill>
          <a:ln w="1905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IN"/>
          </a:p>
        </p:txBody>
      </p:sp>
      <p:pic>
        <p:nvPicPr>
          <p:cNvPr id="11" name="Picture 10">
            <a:extLst>
              <a:ext uri="{FF2B5EF4-FFF2-40B4-BE49-F238E27FC236}">
                <a16:creationId xmlns:a16="http://schemas.microsoft.com/office/drawing/2014/main" id="{8B646C5F-01FD-56BB-4196-D02DA10F569F}"/>
              </a:ext>
            </a:extLst>
          </p:cNvPr>
          <p:cNvPicPr>
            <a:picLocks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635500" y="1333500"/>
            <a:ext cx="6985000" cy="3924300"/>
          </a:xfrm>
          <a:prstGeom prst="rect">
            <a:avLst/>
          </a:prstGeom>
          <a:ln w="12700">
            <a:solidFill>
              <a:srgbClr val="94A3B8"/>
            </a:solidFill>
          </a:ln>
        </p:spPr>
      </p:pic>
    </p:spTree>
    <p:extLst>
      <p:ext uri="{BB962C8B-B14F-4D97-AF65-F5344CB8AC3E}">
        <p14:creationId xmlns:p14="http://schemas.microsoft.com/office/powerpoint/2010/main" val="815491796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E190F58F-1C26-E8BC-0EBA-2632FADBCEBF}"/>
              </a:ext>
            </a:extLst>
          </p:cNvPr>
          <p:cNvSpPr txBox="1"/>
          <p:nvPr/>
        </p:nvSpPr>
        <p:spPr>
          <a:xfrm>
            <a:off x="508000" y="508000"/>
            <a:ext cx="3810000" cy="400110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r>
              <a:rPr lang="en-US" sz="1000" b="1">
                <a:solidFill>
                  <a:srgbClr val="94A3B8"/>
                </a:solidFill>
                <a:latin typeface="Segoe UI" panose="020B0502040204020203" pitchFamily="34" charset="0"/>
              </a:rPr>
              <a:t>PROJECT 09 OF 11  â€¢  DEEP LEARNING &amp; FACIAL CLASSIFICATION</a:t>
            </a:r>
            <a:endParaRPr lang="en-IN" sz="1000" b="1">
              <a:solidFill>
                <a:srgbClr val="94A3B8"/>
              </a:solidFill>
              <a:latin typeface="Segoe UI" panose="020B0502040204020203" pitchFamily="34" charset="0"/>
            </a:endParaRP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CE78972E-AC0C-1CCA-0E31-2EB2F903F051}"/>
              </a:ext>
            </a:extLst>
          </p:cNvPr>
          <p:cNvSpPr txBox="1"/>
          <p:nvPr/>
        </p:nvSpPr>
        <p:spPr>
          <a:xfrm>
            <a:off x="508000" y="762000"/>
            <a:ext cx="3810000" cy="430887"/>
          </a:xfrm>
          <a:prstGeom prst="rect">
            <a:avLst/>
          </a:prstGeom>
          <a:noFill/>
        </p:spPr>
        <p:txBody>
          <a:bodyPr vert="horz" wrap="square" rtlCol="0">
            <a:spAutoFit/>
          </a:bodyPr>
          <a:lstStyle/>
          <a:p>
            <a:r>
              <a:rPr lang="en-IN" sz="2200" b="1">
                <a:solidFill>
                  <a:srgbClr val="FFFFFF"/>
                </a:solidFill>
                <a:latin typeface="Segoe UI" panose="020B0502040204020203" pitchFamily="34" charset="0"/>
              </a:rPr>
              <a:t>Male vs Female Classifier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F0609557-F4CD-6CD4-561D-72673E33FF4B}"/>
              </a:ext>
            </a:extLst>
          </p:cNvPr>
          <p:cNvSpPr txBox="1"/>
          <p:nvPr/>
        </p:nvSpPr>
        <p:spPr>
          <a:xfrm>
            <a:off x="508000" y="1714500"/>
            <a:ext cx="3810000" cy="461665"/>
          </a:xfrm>
          <a:prstGeom prst="rect">
            <a:avLst/>
          </a:prstGeom>
          <a:noFill/>
        </p:spPr>
        <p:txBody>
          <a:bodyPr vert="horz" wrap="square" rtlCol="0">
            <a:spAutoFit/>
          </a:bodyPr>
          <a:lstStyle/>
          <a:p>
            <a:r>
              <a:rPr lang="en-US" sz="1200">
                <a:solidFill>
                  <a:srgbClr val="94A3B8"/>
                </a:solidFill>
                <a:latin typeface="Segoe UI" panose="020B0502040204020203" pitchFamily="34" charset="0"/>
              </a:rPr>
              <a:t>High-accuracy face classification app identifying gender from uploaded photos</a:t>
            </a:r>
            <a:endParaRPr lang="en-IN" sz="1200">
              <a:solidFill>
                <a:srgbClr val="94A3B8"/>
              </a:solidFill>
              <a:latin typeface="Segoe UI" panose="020B0502040204020203" pitchFamily="34" charset="0"/>
            </a:endParaRPr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ACB15078-B3DB-7BBF-4408-16162A9A5CE2}"/>
              </a:ext>
            </a:extLst>
          </p:cNvPr>
          <p:cNvSpPr/>
          <p:nvPr/>
        </p:nvSpPr>
        <p:spPr>
          <a:xfrm>
            <a:off x="508000" y="2476500"/>
            <a:ext cx="762000" cy="38100"/>
          </a:xfrm>
          <a:prstGeom prst="rect">
            <a:avLst/>
          </a:prstGeom>
          <a:solidFill>
            <a:srgbClr val="06B6D4"/>
          </a:solidFill>
          <a:ln w="1905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IN"/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5E625C97-E105-A112-AE4B-6DE8F27E60C9}"/>
              </a:ext>
            </a:extLst>
          </p:cNvPr>
          <p:cNvSpPr txBox="1"/>
          <p:nvPr/>
        </p:nvSpPr>
        <p:spPr>
          <a:xfrm>
            <a:off x="508000" y="2603500"/>
            <a:ext cx="3810000" cy="261610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r>
              <a:rPr lang="en-IN" sz="1100" b="1">
                <a:solidFill>
                  <a:srgbClr val="FB923C"/>
                </a:solidFill>
                <a:latin typeface="Segoe UI" panose="020B0502040204020203" pitchFamily="34" charset="0"/>
              </a:rPr>
              <a:t>KEY FEATURES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257CC85E-9778-4A27-BB1C-1C75D4A3E8B9}"/>
              </a:ext>
            </a:extLst>
          </p:cNvPr>
          <p:cNvSpPr txBox="1"/>
          <p:nvPr/>
        </p:nvSpPr>
        <p:spPr>
          <a:xfrm>
            <a:off x="508000" y="2921000"/>
            <a:ext cx="3810000" cy="1446550"/>
          </a:xfrm>
          <a:prstGeom prst="rect">
            <a:avLst/>
          </a:prstGeom>
          <a:noFill/>
        </p:spPr>
        <p:txBody>
          <a:bodyPr vert="horz" wrap="square" rtlCol="0">
            <a:spAutoFit/>
          </a:bodyPr>
          <a:lstStyle/>
          <a:p>
            <a:r>
              <a:rPr lang="en-IN" sz="1100">
                <a:solidFill>
                  <a:srgbClr val="FFFFFF"/>
                </a:solidFill>
                <a:latin typeface="Segoe UI" panose="020B0502040204020203" pitchFamily="34" charset="0"/>
              </a:rPr>
              <a:t>â€¢ DeepFace CNN architecture utilizing pre-trained deep learning.
â€¢ Bypasses external cascades via skip-detection mode for robust hosting.
â€¢ Real-time confidence scores for Male/Female classification.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C5D0A17A-1E32-C9C7-35D7-70577DF9F9C6}"/>
              </a:ext>
            </a:extLst>
          </p:cNvPr>
          <p:cNvSpPr txBox="1"/>
          <p:nvPr/>
        </p:nvSpPr>
        <p:spPr>
          <a:xfrm>
            <a:off x="508000" y="5461000"/>
            <a:ext cx="3810000" cy="430887"/>
          </a:xfrm>
          <a:prstGeom prst="rect">
            <a:avLst/>
          </a:prstGeom>
          <a:noFill/>
        </p:spPr>
        <p:txBody>
          <a:bodyPr vert="horz" wrap="square" rtlCol="0">
            <a:spAutoFit/>
          </a:bodyPr>
          <a:lstStyle/>
          <a:p>
            <a:r>
              <a:rPr lang="en-US" sz="1100" b="1">
                <a:solidFill>
                  <a:srgbClr val="06B6D4"/>
                </a:solidFill>
                <a:latin typeface="Segoe UI" panose="020B0502040204020203" pitchFamily="34" charset="0"/>
              </a:rPr>
              <a:t>TECH STACK:
Streamlit, DeepFace, TensorFlow, OpenCV</a:t>
            </a:r>
            <a:endParaRPr lang="en-IN" sz="1100" b="1">
              <a:solidFill>
                <a:srgbClr val="06B6D4"/>
              </a:solidFill>
              <a:latin typeface="Segoe UI" panose="020B0502040204020203" pitchFamily="34" charset="0"/>
            </a:endParaRPr>
          </a:p>
        </p:txBody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07A9C28D-72E1-5D82-DC6B-CB9FF39BC64D}"/>
              </a:ext>
            </a:extLst>
          </p:cNvPr>
          <p:cNvSpPr/>
          <p:nvPr/>
        </p:nvSpPr>
        <p:spPr>
          <a:xfrm>
            <a:off x="4445000" y="1143000"/>
            <a:ext cx="7366000" cy="4318000"/>
          </a:xfrm>
          <a:prstGeom prst="rect">
            <a:avLst/>
          </a:prstGeom>
          <a:solidFill>
            <a:srgbClr val="1E293B"/>
          </a:solidFill>
          <a:ln w="1905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IN"/>
          </a:p>
        </p:txBody>
      </p:sp>
      <p:pic>
        <p:nvPicPr>
          <p:cNvPr id="11" name="Picture 10">
            <a:extLst>
              <a:ext uri="{FF2B5EF4-FFF2-40B4-BE49-F238E27FC236}">
                <a16:creationId xmlns:a16="http://schemas.microsoft.com/office/drawing/2014/main" id="{E89290CC-6670-478C-9BD5-52504661BDEE}"/>
              </a:ext>
            </a:extLst>
          </p:cNvPr>
          <p:cNvPicPr>
            <a:picLocks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635500" y="1333500"/>
            <a:ext cx="6985000" cy="3924300"/>
          </a:xfrm>
          <a:prstGeom prst="rect">
            <a:avLst/>
          </a:prstGeom>
          <a:ln w="12700">
            <a:solidFill>
              <a:srgbClr val="94A3B8"/>
            </a:solidFill>
          </a:ln>
        </p:spPr>
      </p:pic>
    </p:spTree>
    <p:extLst>
      <p:ext uri="{BB962C8B-B14F-4D97-AF65-F5344CB8AC3E}">
        <p14:creationId xmlns:p14="http://schemas.microsoft.com/office/powerpoint/2010/main" val="291847158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26D9FA3C-FD2C-61BE-BA01-5050282A6F50}"/>
              </a:ext>
            </a:extLst>
          </p:cNvPr>
          <p:cNvSpPr txBox="1"/>
          <p:nvPr/>
        </p:nvSpPr>
        <p:spPr>
          <a:xfrm>
            <a:off x="508000" y="508000"/>
            <a:ext cx="3810000" cy="400110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r>
              <a:rPr lang="en-US" sz="1000" b="1">
                <a:solidFill>
                  <a:srgbClr val="94A3B8"/>
                </a:solidFill>
                <a:latin typeface="Segoe UI" panose="020B0502040204020203" pitchFamily="34" charset="0"/>
              </a:rPr>
              <a:t>PROJECT 10 OF 11  â€¢  UNSUPERVISED LEARNING &amp; SPECIES CATEGORIZATION</a:t>
            </a:r>
            <a:endParaRPr lang="en-IN" sz="1000" b="1">
              <a:solidFill>
                <a:srgbClr val="94A3B8"/>
              </a:solidFill>
              <a:latin typeface="Segoe UI" panose="020B0502040204020203" pitchFamily="34" charset="0"/>
            </a:endParaRP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32DA24D1-A5D6-8893-53F3-7EBDD2A60BCE}"/>
              </a:ext>
            </a:extLst>
          </p:cNvPr>
          <p:cNvSpPr txBox="1"/>
          <p:nvPr/>
        </p:nvSpPr>
        <p:spPr>
          <a:xfrm>
            <a:off x="508000" y="762000"/>
            <a:ext cx="3810000" cy="769441"/>
          </a:xfrm>
          <a:prstGeom prst="rect">
            <a:avLst/>
          </a:prstGeom>
          <a:noFill/>
        </p:spPr>
        <p:txBody>
          <a:bodyPr vert="horz" wrap="square" rtlCol="0">
            <a:spAutoFit/>
          </a:bodyPr>
          <a:lstStyle/>
          <a:p>
            <a:r>
              <a:rPr lang="en-IN" sz="2200" b="1">
                <a:solidFill>
                  <a:srgbClr val="FFFFFF"/>
                </a:solidFill>
                <a:latin typeface="Segoe UI" panose="020B0502040204020203" pitchFamily="34" charset="0"/>
              </a:rPr>
              <a:t>Iris Flower K-Means Clustering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5D26ED68-73CD-F96C-4242-D21AA9766D7E}"/>
              </a:ext>
            </a:extLst>
          </p:cNvPr>
          <p:cNvSpPr txBox="1"/>
          <p:nvPr/>
        </p:nvSpPr>
        <p:spPr>
          <a:xfrm>
            <a:off x="508000" y="1714500"/>
            <a:ext cx="3810000" cy="461665"/>
          </a:xfrm>
          <a:prstGeom prst="rect">
            <a:avLst/>
          </a:prstGeom>
          <a:noFill/>
        </p:spPr>
        <p:txBody>
          <a:bodyPr vert="horz" wrap="square" rtlCol="0">
            <a:spAutoFit/>
          </a:bodyPr>
          <a:lstStyle/>
          <a:p>
            <a:r>
              <a:rPr lang="en-US" sz="1200">
                <a:solidFill>
                  <a:srgbClr val="94A3B8"/>
                </a:solidFill>
                <a:latin typeface="Segoe UI" panose="020B0502040204020203" pitchFamily="34" charset="0"/>
              </a:rPr>
              <a:t>Classic ML clustering visualization analyzing the biological features of Iris flowers</a:t>
            </a:r>
            <a:endParaRPr lang="en-IN" sz="1200">
              <a:solidFill>
                <a:srgbClr val="94A3B8"/>
              </a:solidFill>
              <a:latin typeface="Segoe UI" panose="020B0502040204020203" pitchFamily="34" charset="0"/>
            </a:endParaRPr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078A390A-785D-F767-427C-79577785C3C6}"/>
              </a:ext>
            </a:extLst>
          </p:cNvPr>
          <p:cNvSpPr/>
          <p:nvPr/>
        </p:nvSpPr>
        <p:spPr>
          <a:xfrm>
            <a:off x="508000" y="2476500"/>
            <a:ext cx="762000" cy="38100"/>
          </a:xfrm>
          <a:prstGeom prst="rect">
            <a:avLst/>
          </a:prstGeom>
          <a:solidFill>
            <a:srgbClr val="06B6D4"/>
          </a:solidFill>
          <a:ln w="1905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IN"/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7F974445-150F-D934-ADB3-288679DB7F9D}"/>
              </a:ext>
            </a:extLst>
          </p:cNvPr>
          <p:cNvSpPr txBox="1"/>
          <p:nvPr/>
        </p:nvSpPr>
        <p:spPr>
          <a:xfrm>
            <a:off x="508000" y="2603500"/>
            <a:ext cx="3810000" cy="261610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r>
              <a:rPr lang="en-IN" sz="1100" b="1">
                <a:solidFill>
                  <a:srgbClr val="FB923C"/>
                </a:solidFill>
                <a:latin typeface="Segoe UI" panose="020B0502040204020203" pitchFamily="34" charset="0"/>
              </a:rPr>
              <a:t>KEY FEATURES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CFC51A10-D32D-F839-3515-741BB4BE34C0}"/>
              </a:ext>
            </a:extLst>
          </p:cNvPr>
          <p:cNvSpPr txBox="1"/>
          <p:nvPr/>
        </p:nvSpPr>
        <p:spPr>
          <a:xfrm>
            <a:off x="508000" y="2921000"/>
            <a:ext cx="3810000" cy="1446550"/>
          </a:xfrm>
          <a:prstGeom prst="rect">
            <a:avLst/>
          </a:prstGeom>
          <a:noFill/>
        </p:spPr>
        <p:txBody>
          <a:bodyPr vert="horz" wrap="square" rtlCol="0">
            <a:spAutoFit/>
          </a:bodyPr>
          <a:lstStyle/>
          <a:p>
            <a:r>
              <a:rPr lang="en-US" sz="1100">
                <a:solidFill>
                  <a:srgbClr val="FFFFFF"/>
                </a:solidFill>
                <a:latin typeface="Segoe UI" panose="020B0502040204020203" pitchFamily="34" charset="0"/>
              </a:rPr>
              <a:t>â€¢ Pair-wise feature selection dropdowns for sepal/petal dimensions.
â€¢ Side-by-side comparison of K-Means clusters and actual species.
â€¢ Dynamic centroids mapped to scatter plot in real-time.</a:t>
            </a:r>
            <a:endParaRPr lang="en-IN" sz="1100">
              <a:solidFill>
                <a:srgbClr val="FFFFFF"/>
              </a:solidFill>
              <a:latin typeface="Segoe UI" panose="020B0502040204020203" pitchFamily="34" charset="0"/>
            </a:endParaRP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019F48FD-7309-F5E8-6071-971D69DE3BAD}"/>
              </a:ext>
            </a:extLst>
          </p:cNvPr>
          <p:cNvSpPr txBox="1"/>
          <p:nvPr/>
        </p:nvSpPr>
        <p:spPr>
          <a:xfrm>
            <a:off x="508000" y="5461000"/>
            <a:ext cx="3810000" cy="430887"/>
          </a:xfrm>
          <a:prstGeom prst="rect">
            <a:avLst/>
          </a:prstGeom>
          <a:noFill/>
        </p:spPr>
        <p:txBody>
          <a:bodyPr vert="horz" wrap="square" rtlCol="0">
            <a:spAutoFit/>
          </a:bodyPr>
          <a:lstStyle/>
          <a:p>
            <a:r>
              <a:rPr lang="en-US" sz="1100" b="1">
                <a:solidFill>
                  <a:srgbClr val="06B6D4"/>
                </a:solidFill>
                <a:latin typeface="Segoe UI" panose="020B0502040204020203" pitchFamily="34" charset="0"/>
              </a:rPr>
              <a:t>TECH STACK:
Streamlit, Scikit-learn, Plotly, NumPy</a:t>
            </a:r>
            <a:endParaRPr lang="en-IN" sz="1100" b="1">
              <a:solidFill>
                <a:srgbClr val="06B6D4"/>
              </a:solidFill>
              <a:latin typeface="Segoe UI" panose="020B0502040204020203" pitchFamily="34" charset="0"/>
            </a:endParaRPr>
          </a:p>
        </p:txBody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7FCB0030-6AA2-38E2-9E72-5CF7F73E3124}"/>
              </a:ext>
            </a:extLst>
          </p:cNvPr>
          <p:cNvSpPr/>
          <p:nvPr/>
        </p:nvSpPr>
        <p:spPr>
          <a:xfrm>
            <a:off x="4445000" y="1143000"/>
            <a:ext cx="7366000" cy="4318000"/>
          </a:xfrm>
          <a:prstGeom prst="rect">
            <a:avLst/>
          </a:prstGeom>
          <a:solidFill>
            <a:srgbClr val="1E293B"/>
          </a:solidFill>
          <a:ln w="1905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IN"/>
          </a:p>
        </p:txBody>
      </p:sp>
      <p:pic>
        <p:nvPicPr>
          <p:cNvPr id="11" name="Picture 10">
            <a:extLst>
              <a:ext uri="{FF2B5EF4-FFF2-40B4-BE49-F238E27FC236}">
                <a16:creationId xmlns:a16="http://schemas.microsoft.com/office/drawing/2014/main" id="{AC78FB72-0BD0-CE94-4294-F3CFA9AB6447}"/>
              </a:ext>
            </a:extLst>
          </p:cNvPr>
          <p:cNvPicPr>
            <a:picLocks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635500" y="1333500"/>
            <a:ext cx="6985000" cy="3924300"/>
          </a:xfrm>
          <a:prstGeom prst="rect">
            <a:avLst/>
          </a:prstGeom>
          <a:ln w="12700">
            <a:solidFill>
              <a:srgbClr val="94A3B8"/>
            </a:solidFill>
          </a:ln>
        </p:spPr>
      </p:pic>
    </p:spTree>
    <p:extLst>
      <p:ext uri="{BB962C8B-B14F-4D97-AF65-F5344CB8AC3E}">
        <p14:creationId xmlns:p14="http://schemas.microsoft.com/office/powerpoint/2010/main" val="820665108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FC57D104-96B8-3DBB-9054-7B447380A26E}"/>
              </a:ext>
            </a:extLst>
          </p:cNvPr>
          <p:cNvSpPr txBox="1"/>
          <p:nvPr/>
        </p:nvSpPr>
        <p:spPr>
          <a:xfrm>
            <a:off x="508000" y="508000"/>
            <a:ext cx="3810000" cy="400110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r>
              <a:rPr lang="en-US" sz="1000" b="1">
                <a:solidFill>
                  <a:srgbClr val="94A3B8"/>
                </a:solidFill>
                <a:latin typeface="Segoe UI" panose="020B0502040204020203" pitchFamily="34" charset="0"/>
              </a:rPr>
              <a:t>PROJECT 11 OF 11  â€¢  DEEP LEARNING &amp; CLINICAL DIAGNOSTICS</a:t>
            </a:r>
            <a:endParaRPr lang="en-IN" sz="1000" b="1">
              <a:solidFill>
                <a:srgbClr val="94A3B8"/>
              </a:solidFill>
              <a:latin typeface="Segoe UI" panose="020B0502040204020203" pitchFamily="34" charset="0"/>
            </a:endParaRP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2F983560-5BB2-8B87-6C80-A7A1BA8457D2}"/>
              </a:ext>
            </a:extLst>
          </p:cNvPr>
          <p:cNvSpPr txBox="1"/>
          <p:nvPr/>
        </p:nvSpPr>
        <p:spPr>
          <a:xfrm>
            <a:off x="508000" y="762000"/>
            <a:ext cx="3810000" cy="769441"/>
          </a:xfrm>
          <a:prstGeom prst="rect">
            <a:avLst/>
          </a:prstGeom>
          <a:noFill/>
        </p:spPr>
        <p:txBody>
          <a:bodyPr vert="horz" wrap="square" rtlCol="0">
            <a:spAutoFit/>
          </a:bodyPr>
          <a:lstStyle/>
          <a:p>
            <a:r>
              <a:rPr lang="en-IN" sz="2200" b="1">
                <a:solidFill>
                  <a:srgbClr val="FFFFFF"/>
                </a:solidFill>
                <a:latin typeface="Segoe UI" panose="020B0502040204020203" pitchFamily="34" charset="0"/>
              </a:rPr>
              <a:t>COVID-19 Chest X-Ray Detector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72B1B69E-8403-6D46-4F78-98789AE3846F}"/>
              </a:ext>
            </a:extLst>
          </p:cNvPr>
          <p:cNvSpPr txBox="1"/>
          <p:nvPr/>
        </p:nvSpPr>
        <p:spPr>
          <a:xfrm>
            <a:off x="508000" y="1714500"/>
            <a:ext cx="3810000" cy="461665"/>
          </a:xfrm>
          <a:prstGeom prst="rect">
            <a:avLst/>
          </a:prstGeom>
          <a:noFill/>
        </p:spPr>
        <p:txBody>
          <a:bodyPr vert="horz" wrap="square" rtlCol="0">
            <a:spAutoFit/>
          </a:bodyPr>
          <a:lstStyle/>
          <a:p>
            <a:r>
              <a:rPr lang="en-US" sz="1200">
                <a:solidFill>
                  <a:srgbClr val="94A3B8"/>
                </a:solidFill>
                <a:latin typeface="Segoe UI" panose="020B0502040204020203" pitchFamily="34" charset="0"/>
              </a:rPr>
              <a:t>Medical imaging diagnostic app scanning chest X-rays to detect potential COVID-19 infection</a:t>
            </a:r>
            <a:endParaRPr lang="en-IN" sz="1200">
              <a:solidFill>
                <a:srgbClr val="94A3B8"/>
              </a:solidFill>
              <a:latin typeface="Segoe UI" panose="020B0502040204020203" pitchFamily="34" charset="0"/>
            </a:endParaRPr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05A07A6B-F7CF-1550-C014-0AF5515C32FF}"/>
              </a:ext>
            </a:extLst>
          </p:cNvPr>
          <p:cNvSpPr/>
          <p:nvPr/>
        </p:nvSpPr>
        <p:spPr>
          <a:xfrm>
            <a:off x="508000" y="2476500"/>
            <a:ext cx="762000" cy="38100"/>
          </a:xfrm>
          <a:prstGeom prst="rect">
            <a:avLst/>
          </a:prstGeom>
          <a:solidFill>
            <a:srgbClr val="06B6D4"/>
          </a:solidFill>
          <a:ln w="1905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IN"/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83858B19-A70B-7E4A-22E3-C7ADDEEB23E6}"/>
              </a:ext>
            </a:extLst>
          </p:cNvPr>
          <p:cNvSpPr txBox="1"/>
          <p:nvPr/>
        </p:nvSpPr>
        <p:spPr>
          <a:xfrm>
            <a:off x="508000" y="2603500"/>
            <a:ext cx="3810000" cy="261610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r>
              <a:rPr lang="en-IN" sz="1100" b="1">
                <a:solidFill>
                  <a:srgbClr val="FB923C"/>
                </a:solidFill>
                <a:latin typeface="Segoe UI" panose="020B0502040204020203" pitchFamily="34" charset="0"/>
              </a:rPr>
              <a:t>KEY FEATURES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573FB428-C3B4-EF91-DDFD-D2F30C23660D}"/>
              </a:ext>
            </a:extLst>
          </p:cNvPr>
          <p:cNvSpPr txBox="1"/>
          <p:nvPr/>
        </p:nvSpPr>
        <p:spPr>
          <a:xfrm>
            <a:off x="508000" y="2921000"/>
            <a:ext cx="3810000" cy="1277273"/>
          </a:xfrm>
          <a:prstGeom prst="rect">
            <a:avLst/>
          </a:prstGeom>
          <a:noFill/>
        </p:spPr>
        <p:txBody>
          <a:bodyPr vert="horz" wrap="square" rtlCol="0">
            <a:spAutoFit/>
          </a:bodyPr>
          <a:lstStyle/>
          <a:p>
            <a:r>
              <a:rPr lang="en-US" sz="1100">
                <a:solidFill>
                  <a:srgbClr val="FFFFFF"/>
                </a:solidFill>
                <a:latin typeface="Segoe UI" panose="020B0502040204020203" pitchFamily="34" charset="0"/>
              </a:rPr>
              <a:t>â€¢ ResNet/MobileNet deep feature extraction architecture.
â€¢ Medical scan viewer showing probability breakdown.
â€¢ Visual progress bar showing clinical probability of COVID-19 vs Normal.</a:t>
            </a:r>
            <a:endParaRPr lang="en-IN" sz="1100">
              <a:solidFill>
                <a:srgbClr val="FFFFFF"/>
              </a:solidFill>
              <a:latin typeface="Segoe UI" panose="020B0502040204020203" pitchFamily="34" charset="0"/>
            </a:endParaRP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A9699CDB-05BA-0FB9-6BE1-D22BBCFC58F4}"/>
              </a:ext>
            </a:extLst>
          </p:cNvPr>
          <p:cNvSpPr txBox="1"/>
          <p:nvPr/>
        </p:nvSpPr>
        <p:spPr>
          <a:xfrm>
            <a:off x="508000" y="5461000"/>
            <a:ext cx="3810000" cy="430887"/>
          </a:xfrm>
          <a:prstGeom prst="rect">
            <a:avLst/>
          </a:prstGeom>
          <a:noFill/>
        </p:spPr>
        <p:txBody>
          <a:bodyPr vert="horz" wrap="square" rtlCol="0">
            <a:spAutoFit/>
          </a:bodyPr>
          <a:lstStyle/>
          <a:p>
            <a:r>
              <a:rPr lang="en-IN" sz="1100" b="1">
                <a:solidFill>
                  <a:srgbClr val="06B6D4"/>
                </a:solidFill>
                <a:latin typeface="Segoe UI" panose="020B0502040204020203" pitchFamily="34" charset="0"/>
              </a:rPr>
              <a:t>TECH STACK:
Streamlit, TensorFlow, Keras, PIL</a:t>
            </a:r>
          </a:p>
        </p:txBody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10093B94-77B1-A49E-3F7A-EF23432D3AE2}"/>
              </a:ext>
            </a:extLst>
          </p:cNvPr>
          <p:cNvSpPr/>
          <p:nvPr/>
        </p:nvSpPr>
        <p:spPr>
          <a:xfrm>
            <a:off x="4445000" y="1143000"/>
            <a:ext cx="7366000" cy="4318000"/>
          </a:xfrm>
          <a:prstGeom prst="rect">
            <a:avLst/>
          </a:prstGeom>
          <a:solidFill>
            <a:srgbClr val="1E293B"/>
          </a:solidFill>
          <a:ln w="1905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IN"/>
          </a:p>
        </p:txBody>
      </p:sp>
      <p:pic>
        <p:nvPicPr>
          <p:cNvPr id="11" name="Picture 10">
            <a:extLst>
              <a:ext uri="{FF2B5EF4-FFF2-40B4-BE49-F238E27FC236}">
                <a16:creationId xmlns:a16="http://schemas.microsoft.com/office/drawing/2014/main" id="{47BE1393-24F5-372B-D522-EF7ADDA0D2B8}"/>
              </a:ext>
            </a:extLst>
          </p:cNvPr>
          <p:cNvPicPr>
            <a:picLocks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635500" y="1333500"/>
            <a:ext cx="6985000" cy="3924300"/>
          </a:xfrm>
          <a:prstGeom prst="rect">
            <a:avLst/>
          </a:prstGeom>
          <a:ln w="12700">
            <a:solidFill>
              <a:srgbClr val="94A3B8"/>
            </a:solidFill>
          </a:ln>
        </p:spPr>
      </p:pic>
    </p:spTree>
    <p:extLst>
      <p:ext uri="{BB962C8B-B14F-4D97-AF65-F5344CB8AC3E}">
        <p14:creationId xmlns:p14="http://schemas.microsoft.com/office/powerpoint/2010/main" val="2570768298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F4EC3986-07EB-D585-09B2-1DE25CDF0618}"/>
              </a:ext>
            </a:extLst>
          </p:cNvPr>
          <p:cNvSpPr txBox="1"/>
          <p:nvPr/>
        </p:nvSpPr>
        <p:spPr>
          <a:xfrm>
            <a:off x="1016000" y="2286000"/>
            <a:ext cx="10160000" cy="830997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r>
              <a:rPr lang="en-IN" sz="4800" b="1">
                <a:solidFill>
                  <a:srgbClr val="06B6D4"/>
                </a:solidFill>
                <a:latin typeface="Segoe UI" panose="020B0502040204020203" pitchFamily="34" charset="0"/>
              </a:rPr>
              <a:t>Thank You!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40EDF0BF-3D1C-0542-8E7B-2020A8DF1DFE}"/>
              </a:ext>
            </a:extLst>
          </p:cNvPr>
          <p:cNvSpPr txBox="1"/>
          <p:nvPr/>
        </p:nvSpPr>
        <p:spPr>
          <a:xfrm>
            <a:off x="1016000" y="3556000"/>
            <a:ext cx="10160000" cy="646331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r>
              <a:rPr lang="en-US">
                <a:solidFill>
                  <a:srgbClr val="FFFFFF"/>
                </a:solidFill>
                <a:latin typeface="Segoe UI" panose="020B0502040204020203" pitchFamily="34" charset="0"/>
              </a:rPr>
              <a:t>All 11 Streamlit apps are successfully deployed and functional.
Ready for final presentation and grading.</a:t>
            </a:r>
            <a:endParaRPr lang="en-IN">
              <a:solidFill>
                <a:srgbClr val="FFFFFF"/>
              </a:solidFill>
              <a:latin typeface="Segoe UI" panose="020B0502040204020203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913036821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950</Words>
  <Application>Microsoft Office PowerPoint</Application>
  <PresentationFormat>Custom</PresentationFormat>
  <Paragraphs>71</Paragraphs>
  <Slides>13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4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13</vt:i4>
      </vt:variant>
    </vt:vector>
  </HeadingPairs>
  <TitlesOfParts>
    <vt:vector size="18" baseType="lpstr">
      <vt:lpstr>Aptos</vt:lpstr>
      <vt:lpstr>Aptos Display</vt:lpstr>
      <vt:lpstr>Arial</vt:lpstr>
      <vt:lpstr>Segoe UI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faiz khan</dc:creator>
  <cp:lastModifiedBy>faiz khan</cp:lastModifiedBy>
  <cp:revision>1</cp:revision>
  <dcterms:created xsi:type="dcterms:W3CDTF">2026-07-11T08:06:06Z</dcterms:created>
  <dcterms:modified xsi:type="dcterms:W3CDTF">2026-07-11T08:06:06Z</dcterms:modified>
</cp:coreProperties>
</file>